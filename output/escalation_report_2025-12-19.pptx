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Escalation to Client Details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FFFFFF"/>
                </a:solidFill>
                <a:latin typeface="Calibri"/>
              </a:defRPr>
            </a:pPr>
            <a:r>
              <a:t>Signature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FFFFFF"/>
                </a:solidFill>
                <a:latin typeface="Calibri"/>
              </a:defRPr>
            </a:pPr>
            <a:r>
              <a:t>Lennar Corporation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  <a:latin typeface="Calibri"/>
              </a:defRPr>
            </a:pPr>
            <a:r>
              <a:t>August 1-31, 2025 (31 days)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948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  <a:latin typeface="Calibri"/>
              </a:defRPr>
            </a:pPr>
            <a:r>
              <a:t>Report Date: November 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004C97"/>
                </a:solidFill>
                <a:latin typeface="Calibri"/>
              </a:defRPr>
            </a:pPr>
            <a:r>
              <a:t>267 Incidents Escalated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343741"/>
                </a:solidFill>
                <a:latin typeface="Calibri"/>
              </a:defRPr>
            </a:pPr>
            <a:r>
              <a:t>Average 8.9 per day requiring your team's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3741"/>
                </a:solidFill>
                <a:latin typeface="Calibri"/>
              </a:defRPr>
            </a:pPr>
            <a:r>
              <a:t>CS SOC triaged 2,110 alerts this period—1,690 (80%) guided with your team and 420 closed end-to-end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Period Highlights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Threat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11 threats contained, zero breaches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8872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258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Response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73736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34% faster MTTR vs peers (126m vs 192m)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3464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24/7 Protection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59% of escalations handled after-hours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3464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9718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Detection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3832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9.0% false positive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4C97"/>
                </a:solidFill>
                <a:latin typeface="Calibri"/>
              </a:defRPr>
            </a:pPr>
            <a:r>
              <a:t>Modeled Cost Exposure Avoided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4C97"/>
                </a:solidFill>
                <a:latin typeface="Calibri"/>
              </a:defRPr>
            </a:pPr>
            <a:r>
              <a:t>~$7.55M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343741"/>
                </a:solidFill>
                <a:latin typeface="Calibri"/>
              </a:defRPr>
            </a:pPr>
            <a:r>
              <a:t>Modeled cost exposure avoided across operations, coverage, and threat containment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119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343741"/>
                </a:solidFill>
                <a:latin typeface="Calibri"/>
              </a:defRPr>
            </a:pPr>
            <a:r>
              <a:t>Illustrative impact only; not redeployable budget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Value Delivered -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3774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Calibri"/>
              </a:defRPr>
            </a:pPr>
            <a:r>
              <a:t>Security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Calibri"/>
              </a:defRPr>
            </a:pPr>
            <a:r>
              <a:t>452 analyst hours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Calibri"/>
              </a:defRPr>
            </a:pPr>
            <a:r>
              <a:t>~$38K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097280"/>
            <a:ext cx="23774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Calibri"/>
              </a:defRPr>
            </a:pPr>
            <a:r>
              <a:t>24/7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Calibri"/>
              </a:defRPr>
            </a:pPr>
            <a:r>
              <a:t>744 hours of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9260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Calibri"/>
              </a:defRPr>
            </a:pPr>
            <a:r>
              <a:t>~$163K equivalent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097280"/>
            <a:ext cx="23774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Calibri"/>
              </a:defRPr>
            </a:pPr>
            <a:r>
              <a:t>Threat Prevention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Calibri"/>
              </a:defRPr>
            </a:pPr>
            <a:r>
              <a:t>11 intrusions contained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9260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Calibri"/>
              </a:defRPr>
            </a:pPr>
            <a:r>
              <a:t>~$7.34M breach exposure avoided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343741"/>
                </a:solidFill>
                <a:latin typeface="Calibri"/>
              </a:defRPr>
            </a:pPr>
            <a:r>
              <a:t>Methodology: Cost equivalents based on industry-standard rates for SOC analyst time, 24/7 monitoring infrastructure, and average breach cost per incident.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Security Outcomes This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680960" cy="368046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2,110 Alerts Triaged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1,690 Client-Touch Decisions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420 Closed End-to-End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11 True Threats Contained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34% Faster Than Industry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87-Minute P90 Response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158 After-Hours Escalations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Calibri"/>
              </a:defRPr>
            </a:pPr>
            <a:r>
              <a:t>• 744 Hours of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Getting Better Every 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MTTR (blue) | MTTD (navy) | FP% (red dashed)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480560"/>
            <a:ext cx="7680960" cy="7315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004C97"/>
                </a:solidFill>
                <a:latin typeface="Calibri"/>
              </a:defRPr>
            </a:pPr>
            <a:r>
              <a:t>MTTR decreased 25% to 126 minutes, MTTD improved 22% to 42 minutes</a:t>
            </a:r>
          </a:p>
        </p:txBody>
      </p:sp>
      <p:pic>
        <p:nvPicPr>
          <p:cNvPr id="7" name="Picture 6" descr="trend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68096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Industry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7315200" cy="571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234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Your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34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Industry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34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Difference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760220"/>
            <a:ext cx="7315200" cy="5715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05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MTTR (minutes)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805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126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805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192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80594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80594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34% Better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77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MTTD (minutes)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377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3774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66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37744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37744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36% Better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2903220"/>
            <a:ext cx="7315200" cy="5715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948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Incidents/Day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2948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8.9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94894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11.4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94894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94894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22% Better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Response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Calibri"/>
              </a:defRPr>
            </a:pPr>
            <a:r>
              <a:t>Containment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CDE"/>
                </a:solidFill>
                <a:latin typeface="Calibri"/>
              </a:defRPr>
            </a:pPr>
            <a:r>
              <a:t>98%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(262 of 267)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18872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Calibri"/>
              </a:defRPr>
            </a:pPr>
            <a:r>
              <a:t>Playbook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031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CDE"/>
                </a:solidFill>
                <a:latin typeface="Calibri"/>
              </a:defRPr>
            </a:pPr>
            <a:r>
              <a:t>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(229 incidents)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18872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Calibri"/>
              </a:defRPr>
            </a:pPr>
            <a:r>
              <a:t>Analyst Escalation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1031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A14"/>
                </a:solidFill>
                <a:latin typeface="Calibri"/>
              </a:defRPr>
            </a:pPr>
            <a:r>
              <a:t>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(38 incidents)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566160" cy="1371600"/>
          </a:xfrm>
          <a:prstGeom prst="rect">
            <a:avLst/>
          </a:prstGeom>
          <a:solidFill>
            <a:srgbClr val="F0F8FF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True Threat 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F3340"/>
                </a:solidFill>
                <a:latin typeface="Calibri"/>
              </a:defRPr>
            </a:pPr>
            <a:r>
              <a:t>31.4%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188720"/>
            <a:ext cx="3566160" cy="13716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Signal Fidelity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288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CDE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3566160" cy="137160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False Positive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383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6A14"/>
                </a:solidFill>
                <a:latin typeface="Calibri"/>
              </a:defRPr>
            </a:pPr>
            <a:r>
              <a:t>9.0%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743200"/>
            <a:ext cx="3566160" cy="13716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926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Client-Validated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383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CDE"/>
                </a:solidFill>
                <a:latin typeface="Calibri"/>
              </a:defRPr>
            </a:pPr>
            <a:r>
              <a:t>86.9%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72000"/>
            <a:ext cx="8229600" cy="640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004C97"/>
                </a:solidFill>
                <a:latin typeface="Calibri"/>
              </a:defRPr>
            </a:pPr>
            <a:r>
              <a:t>Signal quality improved: false positives fell from 10.8% to 9.0%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Severity Alignment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Vendor-reported criticality vs. Critical Start adjudication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822960"/>
            <a:ext cx="1645920" cy="3657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267 escalations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F3340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Upgraded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9CDE"/>
                </a:solidFill>
                <a:latin typeface="Calibri"/>
              </a:defRPr>
            </a:pPr>
            <a: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De-escalated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4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Calibri"/>
              </a:defRPr>
            </a:pPr>
            <a:r>
              <a:t>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Calibri"/>
              </a:defRPr>
            </a:pPr>
            <a:r>
              <a:t>Aligned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7680960" cy="73152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Calibri"/>
              </a:defRPr>
            </a:pPr>
            <a:r>
              <a:t>• 34 escalations upgraded (12.7%) - CS raised severity based on business impact</a:t>
            </a:r>
            <a:br/>
            <a:r>
              <a:t>• 65 escalations de-escalated (24.3%) - CS reduced noise from vendor over-classification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Calibri"/>
              </a:defRPr>
            </a:pPr>
            <a:r>
              <a:t>Source: Vendor Severity (col 45) vs. Current Priority (col 13)</a:t>
            </a:r>
          </a:p>
        </p:txBody>
      </p:sp>
      <p:pic>
        <p:nvPicPr>
          <p:cNvPr id="18" name="Picture 17" descr="sanke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768096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Threat Landscape by Tactic &amp; Severity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Calibri"/>
              </a:defRPr>
            </a:pPr>
            <a:r>
              <a:t>High (red) | Medium (orange) | Low (blue) | Info (gray)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004C97"/>
                </a:solidFill>
                <a:latin typeface="Calibri"/>
              </a:defRPr>
            </a:pPr>
            <a:r>
              <a:t>Persistence tactics generated 77 escalations with 12 high-severity cases (15.6%)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Calibri"/>
              </a:defRPr>
            </a:pPr>
            <a:r>
              <a:t>Source: MITRE ATT&amp;CK Tactic (col X) and Current Priority (col 13)</a:t>
            </a:r>
          </a:p>
        </p:txBody>
      </p:sp>
      <p:pic>
        <p:nvPicPr>
          <p:cNvPr id="8" name="Picture 7" descr="stacked_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6809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Sources &amp;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377440" cy="320040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Palo Alto Cortex XDR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189 incidents (70.8%)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834640"/>
            <a:ext cx="2103120" cy="914400"/>
          </a:xfrm>
          <a:prstGeom prst="rect">
            <a:avLst/>
          </a:prstGeom>
          <a:solidFill>
            <a:srgbClr val="FF6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FP Rate: 11.2%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Calibri"/>
              </a:defRPr>
            </a:pPr>
            <a:r>
              <a:t>Above threshold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377440" cy="32004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371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Microsoft Sentinel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103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52 incidents (19.5%)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2834640"/>
            <a:ext cx="2103120" cy="9144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FP Rate: 5.8%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Calibri"/>
              </a:defRPr>
            </a:pPr>
            <a:r>
              <a:t>Good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097280"/>
            <a:ext cx="2377440" cy="32004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71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CrowdStrike Falcon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103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26 incidents (9.7%)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0" y="2834640"/>
            <a:ext cx="2103120" cy="9144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FP Rate: 7.7%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Calibri"/>
              </a:defRPr>
            </a:pPr>
            <a:r>
              <a:t>Good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Prioritized Improvement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914400" cy="320040"/>
          </a:xfrm>
          <a:prstGeom prst="rect">
            <a:avLst/>
          </a:prstGeom>
          <a:solidFill>
            <a:srgbClr val="EF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2344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Item 1 - Detection Tuning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Calibri"/>
              </a:defRPr>
            </a:pPr>
            <a:r>
              <a:t>Palo Alto Cortex XDR false positive rate is 11.2%, exceeding the 10.0%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Calibri"/>
              </a:defRPr>
            </a:pPr>
            <a:r>
              <a:t>Owner: CS SOC + Lennar Security Team | Target: Next 30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Calibri"/>
              </a:defRPr>
            </a:pPr>
            <a:r>
              <a:t>Expected Impact: Reduce escalations by ~20%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914400" cy="320040"/>
          </a:xfrm>
          <a:prstGeom prst="rect">
            <a:avLst/>
          </a:prstGeom>
          <a:solidFill>
            <a:srgbClr val="FF6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Item 2 - Automation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Calibri"/>
              </a:defRPr>
            </a:pPr>
            <a:r>
              <a:t>Manual escalations at 14% exceed 12% target. 38 incidents required analyst judgment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Calibri"/>
              </a:defRPr>
            </a:pPr>
            <a:r>
              <a:t>Owner: CS SOC Engineering | Target: Next 60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Calibri"/>
              </a:defRPr>
            </a:pPr>
            <a:r>
              <a:t>Expected Impact: Reduce manual review burden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977640"/>
            <a:ext cx="914400" cy="320040"/>
          </a:xfrm>
          <a:prstGeom prst="rect">
            <a:avLst/>
          </a:prstGeom>
          <a:solidFill>
            <a:srgbClr val="EF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97764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Calibri"/>
              </a:defRPr>
            </a:pPr>
            <a:r>
              <a:t>Item 3 - Threat 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Calibri"/>
              </a:defRPr>
            </a:pPr>
            <a:r>
              <a:t>Persistence + Defense Evasion account for 67% of high-severity incidents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920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Calibri"/>
              </a:defRPr>
            </a:pPr>
            <a:r>
              <a:t>Owner: Joint - CS Threat Intel + Lennar | Target: Ongoing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Calibri"/>
              </a:defRPr>
            </a:pPr>
            <a:r>
              <a:t>Expected Impact: Improved detection of advanced threats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Operational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749040" cy="32004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After-Hours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After Hours Calls: 18% (136 of 756)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Weekend Calls: 15% (22 of 147)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4C97"/>
                </a:solidFill>
                <a:latin typeface="Calibri"/>
              </a:defRPr>
            </a:pPr>
            <a:r>
              <a:t>Total Off-Hours Calls: 158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097280"/>
            <a:ext cx="3749040" cy="32004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280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Calibri"/>
              </a:defRPr>
            </a:pPr>
            <a:r>
              <a:t>Collaboration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Average Touches per Incident: 2.3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60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Calibri"/>
              </a:defRPr>
            </a:pPr>
            <a:r>
              <a:t>Active Client Participation: 72%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2004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4C97"/>
                </a:solidFill>
                <a:latin typeface="Calibri"/>
              </a:defRPr>
            </a:pPr>
            <a:r>
              <a:t>Client-Led Closures: 21%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72000"/>
            <a:ext cx="8229600" cy="640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500" b="1">
                <a:solidFill>
                  <a:srgbClr val="004C97"/>
                </a:solidFill>
                <a:latin typeface="Calibri"/>
              </a:defRPr>
            </a:pPr>
            <a:r>
              <a:t>82.5% of after-hours alerts handled by CS SOC without requiring customer notification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Calibri"/>
              </a:defRPr>
            </a:pPr>
            <a:r>
              <a:t>Next Period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7955280" cy="640080"/>
          </a:xfrm>
          <a:prstGeom prst="rect">
            <a:avLst/>
          </a:prstGeom>
          <a:noFill/>
        </p:spPr>
        <p:txBody>
          <a:bodyPr wrap="square" lIns="182880" rIns="182880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Calibri"/>
              </a:defRPr>
            </a:pPr>
            <a:r>
              <a:t>✓ Trim Palo Alto XDR false positives from 11.2% to 10% threshold (~4 fewer escalations)</a:t>
            </a:r>
          </a:p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Calibri"/>
              </a:defRPr>
            </a:pPr>
            <a:r>
              <a:t>✓ Reduce manual escalations from 38 (14%) to 32 or fewer (12% target)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Calibri"/>
              </a:defRPr>
            </a:pPr>
            <a:r>
              <a:t>Strategic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7955280" cy="457200"/>
          </a:xfrm>
          <a:prstGeom prst="rect">
            <a:avLst/>
          </a:prstGeom>
          <a:noFill/>
        </p:spPr>
        <p:txBody>
          <a:bodyPr wrap="square" lIns="182880" rIns="182880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Calibri"/>
              </a:defRPr>
            </a:pPr>
            <a:r>
              <a:t>✓ Proactive hunts targeting Persistence and Defense Evasion tactics</a:t>
            </a:r>
          </a:p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Calibri"/>
              </a:defRPr>
            </a:pPr>
            <a:r>
              <a:t>✓ Additional playbook coverage for analyst-escalated scenarios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Calibri"/>
              </a:defRPr>
            </a:pPr>
            <a:r>
              <a:t>Your Partnership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3741"/>
                </a:solidFill>
                <a:latin typeface="Calibri"/>
              </a:defRPr>
            </a:pPr>
            <a:r>
              <a:t>Questions? Your Customer Success Manager is here to help.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Calibri"/>
              </a:defRPr>
            </a:pPr>
            <a:r>
              <a:t>Report generated: November 5, 2025 | Data sources: Escalation Details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