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 snapToObjects="1">
      <p:cViewPr varScale="1">
        <p:scale>
          <a:sx n="154" d="100"/>
          <a:sy n="154" d="100"/>
        </p:scale>
        <p:origin x="5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2649C-2695-224D-8A08-BE377AF1C886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DB13D-210E-AC4F-BD06-DE238DB9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49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DB13D-210E-AC4F-BD06-DE238DB901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80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black logo&#10;&#10;AI-generated content may be incorrect.">
            <a:extLst>
              <a:ext uri="{FF2B5EF4-FFF2-40B4-BE49-F238E27FC236}">
                <a16:creationId xmlns:a16="http://schemas.microsoft.com/office/drawing/2014/main" id="{8E0783BB-A526-E332-2210-59762901DFF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57653" y="759345"/>
            <a:ext cx="658293" cy="65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sz="3600" dirty="0"/>
              <a:t>Escalation to Client Details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Signature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Calibri"/>
              </a:defRPr>
            </a:pPr>
            <a:r>
              <a:t>Lennar Corporation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  <a:latin typeface="Calibri"/>
              </a:defRPr>
            </a:pPr>
            <a:r>
              <a:t>August 1-31, 2025 (31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948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Report Date: November 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4C97"/>
                </a:solidFill>
                <a:latin typeface="Calibri"/>
              </a:defRPr>
            </a:pPr>
            <a:r>
              <a:t>267 Incidents Escalated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43741"/>
                </a:solidFill>
                <a:latin typeface="Calibri"/>
              </a:defRPr>
            </a:pPr>
            <a:r>
              <a:t>Average 8.9 per day requiring your team's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43741"/>
                </a:solidFill>
                <a:latin typeface="Calibri"/>
              </a:defRPr>
            </a:pPr>
            <a:r>
              <a:t>CS SOC triaged 2,110 alerts this period—1,690 (80%) guided with your team and 420 closed end-to-end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Period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290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Calibri"/>
              </a:defRPr>
            </a:pPr>
            <a:r>
              <a:t>Threat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11 threats contained, zero breaches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188720"/>
            <a:ext cx="34290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43400" y="13258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Calibri"/>
              </a:defRPr>
            </a:pPr>
            <a:r>
              <a:t>Response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73736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34% faster MTTR vs peers (126m vs 192m)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34290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Calibri"/>
              </a:defRPr>
            </a:pPr>
            <a:r>
              <a:t>24/7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59% of escalations handled after-hours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834640"/>
            <a:ext cx="34290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297180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Calibri"/>
              </a:defRPr>
            </a:pPr>
            <a:r>
              <a:t>Detection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3832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9.0% false positive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4C97"/>
                </a:solidFill>
                <a:latin typeface="Calibri"/>
              </a:defRPr>
            </a:pPr>
            <a:r>
              <a:t>Modeled Cost Exposure Avoided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4C97"/>
                </a:solidFill>
                <a:latin typeface="Calibri"/>
              </a:defRPr>
            </a:pPr>
            <a:r>
              <a:t>~$7.55M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43741"/>
                </a:solidFill>
                <a:latin typeface="Calibri"/>
              </a:defRPr>
            </a:pPr>
            <a:r>
              <a:t>Modeled cost exposure avoided across operations, coverage, and threat containment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119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343741"/>
                </a:solidFill>
                <a:latin typeface="Calibri"/>
              </a:defRPr>
            </a:pPr>
            <a:r>
              <a:t>Illustrative impact only; not redeployable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Value Delivered -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377440" cy="29260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C97"/>
                </a:solidFill>
                <a:latin typeface="Calibri"/>
              </a:defRPr>
            </a:pPr>
            <a:r>
              <a:t>Security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43741"/>
                </a:solidFill>
                <a:latin typeface="Calibri"/>
              </a:defRPr>
            </a:pPr>
            <a:r>
              <a:t>452 analyst hours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C97"/>
                </a:solidFill>
                <a:latin typeface="Calibri"/>
              </a:defRPr>
            </a:pPr>
            <a:r>
              <a:t>~$38K equivalent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097280"/>
            <a:ext cx="2377440" cy="29260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C97"/>
                </a:solidFill>
                <a:latin typeface="Calibri"/>
              </a:defRPr>
            </a:pPr>
            <a:r>
              <a:t>24/7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43741"/>
                </a:solidFill>
                <a:latin typeface="Calibri"/>
              </a:defRPr>
            </a:pPr>
            <a:r>
              <a:t>744 hours of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C97"/>
                </a:solidFill>
                <a:latin typeface="Calibri"/>
              </a:defRPr>
            </a:pPr>
            <a:r>
              <a:t>~$163K equivalent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097280"/>
            <a:ext cx="2377440" cy="29260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C97"/>
                </a:solidFill>
                <a:latin typeface="Calibri"/>
              </a:defRPr>
            </a:pPr>
            <a:r>
              <a:t>Threat 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011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43741"/>
                </a:solidFill>
                <a:latin typeface="Calibri"/>
              </a:defRPr>
            </a:pPr>
            <a:r>
              <a:t>11 intrusions contained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926080"/>
            <a:ext cx="20116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C97"/>
                </a:solidFill>
                <a:latin typeface="Calibri"/>
              </a:defRPr>
            </a:pPr>
            <a:r>
              <a:rPr dirty="0"/>
              <a:t>~$7.34M </a:t>
            </a:r>
            <a:r>
              <a:rPr sz="2000" dirty="0"/>
              <a:t>breach exposure avoided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343741"/>
                </a:solidFill>
                <a:latin typeface="Calibri"/>
              </a:defRPr>
            </a:pPr>
            <a:r>
              <a:t>Methodology: Cost equivalents based on industry-standard rates for SOC analyst time, 24/7 monitoring infrastructure, and average breach cost per incident.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Outcomes This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680460"/>
          </a:xfrm>
          <a:prstGeom prst="rect">
            <a:avLst/>
          </a:prstGeom>
          <a:noFill/>
        </p:spPr>
        <p:txBody>
          <a:bodyPr wrap="square" lIns="274320" tIns="182880" rIns="274320" bIns="18288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Calibri"/>
              </a:defRPr>
            </a:pPr>
            <a:r>
              <a:t>• 2,110 Alerts Triaged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Calibri"/>
              </a:defRPr>
            </a:pPr>
            <a:r>
              <a:t>• 1,690 Client-Touch Decisions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Calibri"/>
              </a:defRPr>
            </a:pPr>
            <a:r>
              <a:t>• 420 Closed End-to-End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Calibri"/>
              </a:defRPr>
            </a:pPr>
            <a:r>
              <a:t>• 11 True Threats Contained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Calibri"/>
              </a:defRPr>
            </a:pPr>
            <a:r>
              <a:t>• 34% Faster Than Industry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Calibri"/>
              </a:defRPr>
            </a:pPr>
            <a:r>
              <a:t>• 87-Minute P90 Response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Calibri"/>
              </a:defRPr>
            </a:pPr>
            <a:r>
              <a:t>• 158 After-Hours Escalations</a:t>
            </a:r>
          </a:p>
          <a:p>
            <a:pPr>
              <a:spcAft>
                <a:spcPts val="1200"/>
              </a:spcAft>
              <a:defRPr sz="1800" b="0">
                <a:solidFill>
                  <a:srgbClr val="343741"/>
                </a:solidFill>
                <a:latin typeface="Calibri"/>
              </a:defRPr>
            </a:pPr>
            <a:r>
              <a:t>• 744 Hours of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Getting Better Every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Calibri"/>
              </a:defRPr>
            </a:pPr>
            <a:r>
              <a:t>MTTR (blue) | MTTD (navy) | FP% (red dashed)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4C97"/>
                </a:solidFill>
                <a:latin typeface="Calibri"/>
              </a:defRPr>
            </a:pPr>
            <a:r>
              <a:t>MTTR decreased 25% to 126 minutes, MTTD improved 22% to 42 minutes</a:t>
            </a:r>
          </a:p>
        </p:txBody>
      </p:sp>
      <p:pic>
        <p:nvPicPr>
          <p:cNvPr id="7" name="Picture 6" descr="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Industry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7315200" cy="57150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2344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Your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Industry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Difference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60220"/>
            <a:ext cx="7315200" cy="571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059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Calibri"/>
              </a:defRPr>
            </a:pPr>
            <a:r>
              <a:t>MTTR (minutes)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8059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059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Calibri"/>
              </a:defRPr>
            </a:pPr>
            <a:r>
              <a:t>192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80594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80594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34% Better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774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Calibri"/>
              </a:defRPr>
            </a:pPr>
            <a:r>
              <a:t>MTTD (minutes)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3774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774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Calibri"/>
              </a:defRPr>
            </a:pPr>
            <a:r>
              <a:t>66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37744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36% Better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903220"/>
            <a:ext cx="7315200" cy="571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29489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Calibri"/>
              </a:defRPr>
            </a:pPr>
            <a:r>
              <a:t>Incidents/Day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9489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Calibri"/>
              </a:defRPr>
            </a:pPr>
            <a:r>
              <a:t>8.9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94894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Calibri"/>
              </a:defRPr>
            </a:pPr>
            <a:r>
              <a:t>11.4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94894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94894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22% Better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Response Efficiency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F6AEF9-31E3-C749-2820-1F51F149BB0E}"/>
              </a:ext>
            </a:extLst>
          </p:cNvPr>
          <p:cNvGrpSpPr/>
          <p:nvPr/>
        </p:nvGrpSpPr>
        <p:grpSpPr>
          <a:xfrm>
            <a:off x="822960" y="1200150"/>
            <a:ext cx="7498080" cy="2743200"/>
            <a:chOff x="457200" y="1188720"/>
            <a:chExt cx="7498080" cy="2743200"/>
          </a:xfrm>
        </p:grpSpPr>
        <p:sp>
          <p:nvSpPr>
            <p:cNvPr id="4" name="Rectangle 3"/>
            <p:cNvSpPr/>
            <p:nvPr/>
          </p:nvSpPr>
          <p:spPr>
            <a:xfrm>
              <a:off x="457200" y="1188720"/>
              <a:ext cx="2377440" cy="2743200"/>
            </a:xfrm>
            <a:prstGeom prst="rect">
              <a:avLst/>
            </a:prstGeom>
            <a:solidFill>
              <a:srgbClr val="F0F8FF"/>
            </a:solidFill>
            <a:ln w="38100">
              <a:solidFill>
                <a:srgbClr val="009C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40080" y="1463040"/>
              <a:ext cx="201168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004C97"/>
                  </a:solidFill>
                  <a:latin typeface="Calibri"/>
                </a:defRPr>
              </a:pPr>
              <a:r>
                <a:t>Containment Rate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0080" y="2103120"/>
              <a:ext cx="201168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4800" b="1">
                  <a:solidFill>
                    <a:srgbClr val="009CDE"/>
                  </a:solidFill>
                  <a:latin typeface="Calibri"/>
                </a:defRPr>
              </a:pPr>
              <a:r>
                <a:t>98%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3200400"/>
              <a:ext cx="20116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>
                  <a:solidFill>
                    <a:srgbClr val="343741"/>
                  </a:solidFill>
                  <a:latin typeface="Calibri"/>
                </a:defRPr>
              </a:pPr>
              <a:r>
                <a:t>(262 of 267)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17520" y="1188720"/>
              <a:ext cx="2377440" cy="2743200"/>
            </a:xfrm>
            <a:prstGeom prst="rect">
              <a:avLst/>
            </a:prstGeom>
            <a:solidFill>
              <a:srgbClr val="F0F8FF"/>
            </a:solidFill>
            <a:ln w="38100">
              <a:solidFill>
                <a:srgbClr val="009C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00400" y="1463040"/>
              <a:ext cx="201168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004C97"/>
                  </a:solidFill>
                  <a:latin typeface="Calibri"/>
                </a:defRPr>
              </a:pPr>
              <a:r>
                <a:t>Playbook Automation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00400" y="2103120"/>
              <a:ext cx="201168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4800" b="1">
                  <a:solidFill>
                    <a:srgbClr val="009CDE"/>
                  </a:solidFill>
                  <a:latin typeface="Calibri"/>
                </a:defRPr>
              </a:pPr>
              <a:r>
                <a:t>86%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00400" y="3200400"/>
              <a:ext cx="20116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>
                  <a:solidFill>
                    <a:srgbClr val="343741"/>
                  </a:solidFill>
                  <a:latin typeface="Calibri"/>
                </a:defRPr>
              </a:pPr>
              <a:r>
                <a:t>(229 incidents)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77840" y="1188720"/>
              <a:ext cx="2377440" cy="2743200"/>
            </a:xfrm>
            <a:prstGeom prst="rect">
              <a:avLst/>
            </a:prstGeom>
            <a:solidFill>
              <a:srgbClr val="F0F8FF"/>
            </a:solidFill>
            <a:ln w="38100">
              <a:solidFill>
                <a:srgbClr val="FF6A1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60720" y="1463040"/>
              <a:ext cx="201168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004C97"/>
                  </a:solidFill>
                  <a:latin typeface="Calibri"/>
                </a:defRPr>
              </a:pPr>
              <a:r>
                <a:t>Analyst Escalation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60720" y="2103120"/>
              <a:ext cx="201168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4800" b="1">
                  <a:solidFill>
                    <a:srgbClr val="FF6A14"/>
                  </a:solidFill>
                  <a:latin typeface="Calibri"/>
                </a:defRPr>
              </a:pPr>
              <a:r>
                <a:t>14%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60720" y="3200400"/>
              <a:ext cx="20116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>
                  <a:solidFill>
                    <a:srgbClr val="343741"/>
                  </a:solidFill>
                  <a:latin typeface="Calibri"/>
                </a:defRPr>
              </a:pPr>
              <a:r>
                <a:t>(38 incidents)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Detection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88720"/>
            <a:ext cx="3566160" cy="1371600"/>
          </a:xfrm>
          <a:prstGeom prst="rect">
            <a:avLst/>
          </a:prstGeom>
          <a:solidFill>
            <a:srgbClr val="F0F8FF"/>
          </a:solidFill>
          <a:ln w="381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Calibri"/>
              </a:defRPr>
            </a:pPr>
            <a:r>
              <a:t>True Threat 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3340"/>
                </a:solidFill>
                <a:latin typeface="Calibri"/>
              </a:defRPr>
            </a:pPr>
            <a:r>
              <a:t>31.4%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188720"/>
            <a:ext cx="3566160" cy="13716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204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Calibri"/>
              </a:defRPr>
            </a:pPr>
            <a:r>
              <a:t>Signal Fidelity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CDE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743200"/>
            <a:ext cx="3566160" cy="1371600"/>
          </a:xfrm>
          <a:prstGeom prst="rect">
            <a:avLst/>
          </a:prstGeom>
          <a:solidFill>
            <a:srgbClr val="F0F8FF"/>
          </a:solidFill>
          <a:ln w="381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Calibri"/>
              </a:defRPr>
            </a:pPr>
            <a:r>
              <a:t>False Positive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A14"/>
                </a:solidFill>
                <a:latin typeface="Calibri"/>
              </a:defRPr>
            </a:pPr>
            <a:r>
              <a:t>9.0%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743200"/>
            <a:ext cx="3566160" cy="13716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Calibri"/>
              </a:defRPr>
            </a:pPr>
            <a:r>
              <a:t>Client-Validated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CDE"/>
                </a:solidFill>
                <a:latin typeface="Calibri"/>
              </a:defRPr>
            </a:pPr>
            <a:r>
              <a:t>86.9%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8229600" cy="4800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4C97"/>
                </a:solidFill>
                <a:latin typeface="Calibri"/>
              </a:defRPr>
            </a:pPr>
            <a:r>
              <a:t>Signal quality improved: false positives fell from 10.8% to 9.0%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Severity Alignment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Vendor-reported criticality vs. Critical Start adjudication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822960"/>
            <a:ext cx="1645920" cy="3657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267 escalations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37744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194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3340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Calibri"/>
              </a:defRPr>
            </a:pPr>
            <a:r>
              <a:t>Upgraded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02337"/>
            <a:ext cx="237744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68521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CDE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4241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Calibri"/>
              </a:defRPr>
            </a:pPr>
            <a:r>
              <a:t>De-escalated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26180"/>
            <a:ext cx="237744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4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9090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Calibri"/>
              </a:defRPr>
            </a:pPr>
            <a:r>
              <a:t>168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662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Calibri"/>
              </a:defRPr>
            </a:pPr>
            <a:r>
              <a:t>Aligned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411980"/>
            <a:ext cx="6080760" cy="461665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Calibri"/>
              </a:defRPr>
            </a:pPr>
            <a:r>
              <a:rPr sz="1200" dirty="0"/>
              <a:t>• 34 escalations upgraded (12.7%) - CS raised severity based on business impact</a:t>
            </a:r>
            <a:br>
              <a:rPr sz="1200" dirty="0"/>
            </a:br>
            <a:r>
              <a:rPr sz="1200" dirty="0"/>
              <a:t>• 65 escalations de-escalated (24.3%) - CS reduced noise from vendor over-classification</a:t>
            </a:r>
          </a:p>
        </p:txBody>
      </p:sp>
      <p:pic>
        <p:nvPicPr>
          <p:cNvPr id="18" name="Picture 17" descr="sanke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280160"/>
            <a:ext cx="6080760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Threat Landscape by Tactic &amp; Severity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Calibri"/>
              </a:defRPr>
            </a:pPr>
            <a:r>
              <a:t>High (red) | Medium (orange) | Low (blue) | Info (gray)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004C97"/>
                </a:solidFill>
                <a:latin typeface="Calibri"/>
              </a:defRPr>
            </a:pPr>
            <a:r>
              <a:t>Persistence tactics generated 77 escalations with 12 high-severity cases (15.6%)</a:t>
            </a:r>
          </a:p>
        </p:txBody>
      </p:sp>
      <p:pic>
        <p:nvPicPr>
          <p:cNvPr id="8" name="Picture 7" descr="stacked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Detection Sources &amp;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38844"/>
            <a:ext cx="2377440" cy="3200400"/>
          </a:xfrm>
          <a:prstGeom prst="rect">
            <a:avLst/>
          </a:prstGeom>
          <a:solidFill>
            <a:srgbClr val="F0F8FF"/>
          </a:solidFill>
          <a:ln w="381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41316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Calibri"/>
              </a:defRPr>
            </a:pPr>
            <a:r>
              <a:t>Palo Alto Cortex XDR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468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189 incidents (70.8%)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876204"/>
            <a:ext cx="2103120" cy="9144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FP Rate: 11.2%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8204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Calibri"/>
              </a:defRPr>
            </a:pPr>
            <a:r>
              <a:t>Above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138844"/>
            <a:ext cx="2377440" cy="32004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41316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Calibri"/>
              </a:defRPr>
            </a:pPr>
            <a:r>
              <a:t>Microsoft Sentinel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4468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52 incidents (19.5%)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2876204"/>
            <a:ext cx="2103120" cy="91440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FP Rate: 5.8%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88204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38844"/>
            <a:ext cx="2377440" cy="32004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141316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Calibri"/>
              </a:defRPr>
            </a:pPr>
            <a:r>
              <a:t>CrowdStrike Falcon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14468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26 incidents (9.7%)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876204"/>
            <a:ext cx="2103120" cy="91440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FP Rate: 7.7%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88204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Calibri"/>
              </a:defRPr>
            </a:pPr>
            <a:r>
              <a:t>Good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Prioritized Improvement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863840" cy="1188720"/>
          </a:xfrm>
          <a:prstGeom prst="rect">
            <a:avLst/>
          </a:prstGeom>
          <a:solidFill>
            <a:srgbClr val="F0F8FF"/>
          </a:solidFill>
          <a:ln w="508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873760" cy="32004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234440"/>
            <a:ext cx="64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Calibri"/>
              </a:defRPr>
            </a:pPr>
            <a:r>
              <a:t>Item 1 - Detection 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751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Calibri"/>
              </a:defRPr>
            </a:pPr>
            <a:r>
              <a:rPr dirty="0"/>
              <a:t>Palo Alto Cortex XDR false positive rate is 11.2%, exceeding the 10.0% threshold</a:t>
            </a:r>
            <a:endParaRPr lang="en-US" dirty="0"/>
          </a:p>
          <a:p>
            <a:pPr>
              <a:defRPr sz="1200">
                <a:solidFill>
                  <a:srgbClr val="343741"/>
                </a:solidFill>
                <a:latin typeface="Calibri"/>
              </a:defRPr>
            </a:pPr>
            <a:r>
              <a:rPr lang="en-US" dirty="0"/>
              <a:t>Owner: CS SOC + Lennar Security Team | Target: Next 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75143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Calibri"/>
              </a:defRPr>
            </a:pPr>
            <a:r>
              <a:t>Expected Impact: Reduce escalations by ~20%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7863840" cy="1188720"/>
          </a:xfrm>
          <a:prstGeom prst="rect">
            <a:avLst/>
          </a:prstGeom>
          <a:solidFill>
            <a:srgbClr val="F0F8FF"/>
          </a:solidFill>
          <a:ln w="508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873760" cy="32004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06040"/>
            <a:ext cx="64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Calibri"/>
              </a:defRPr>
            </a:pPr>
            <a:r>
              <a:t>Item 2 - Automation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7514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Calibri"/>
              </a:defRPr>
            </a:pPr>
            <a:r>
              <a:rPr dirty="0"/>
              <a:t>Manual escalations at 14% exceed 12% target. 38 incidents required analyst judgment</a:t>
            </a:r>
            <a:endParaRPr lang="en-US" dirty="0"/>
          </a:p>
          <a:p>
            <a:pPr>
              <a:defRPr sz="1200">
                <a:solidFill>
                  <a:srgbClr val="343741"/>
                </a:solidFill>
                <a:latin typeface="Calibri"/>
              </a:defRPr>
            </a:pPr>
            <a:r>
              <a:rPr lang="en-US" dirty="0"/>
              <a:t>Owner: CS SOC Engineering | Target: Next 60 days</a:t>
            </a:r>
          </a:p>
          <a:p>
            <a:pPr algn="l">
              <a:defRPr sz="1200">
                <a:solidFill>
                  <a:srgbClr val="343741"/>
                </a:solidFill>
                <a:latin typeface="Calibri"/>
              </a:defRPr>
            </a:pP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75143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Calibri"/>
              </a:defRPr>
            </a:pPr>
            <a:r>
              <a:t>Expected Impact: Reduce manual review burden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7863840" cy="1188720"/>
          </a:xfrm>
          <a:prstGeom prst="rect">
            <a:avLst/>
          </a:prstGeom>
          <a:solidFill>
            <a:srgbClr val="F0F8FF"/>
          </a:solidFill>
          <a:ln w="508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977640"/>
            <a:ext cx="873760" cy="32004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77640"/>
            <a:ext cx="64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Calibri"/>
              </a:defRPr>
            </a:pPr>
            <a:r>
              <a:t>Item 3 - Threat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751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Calibri"/>
              </a:defRPr>
            </a:pPr>
            <a:r>
              <a:rPr dirty="0"/>
              <a:t>Persistence + Defense Evasion account for 67% of high-severity incidents</a:t>
            </a:r>
            <a:endParaRPr lang="en-US" dirty="0"/>
          </a:p>
          <a:p>
            <a:pPr>
              <a:defRPr sz="1200">
                <a:solidFill>
                  <a:srgbClr val="343741"/>
                </a:solidFill>
                <a:latin typeface="Calibri"/>
              </a:defRPr>
            </a:pPr>
            <a:r>
              <a:rPr lang="en-US" dirty="0"/>
              <a:t>Owner: Joint - CS Threat Intel + Lennar | Target: Ongoing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Calibri"/>
              </a:defRPr>
            </a:pPr>
            <a:r>
              <a:t>Expected Impact: Improved detection of advanced threats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Operational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88967"/>
            <a:ext cx="3749040" cy="32004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71847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Calibri"/>
              </a:defRPr>
            </a:pPr>
            <a:r>
              <a:t>After-Hours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119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After Hours Calls: 18% (136 of 756)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5200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Weekend Calls: 15% (22 of 147)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9208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C97"/>
                </a:solidFill>
                <a:latin typeface="Calibri"/>
              </a:defRPr>
            </a:pPr>
            <a:r>
              <a:t>Total Off-Hours Calls: 158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088967"/>
            <a:ext cx="3749040" cy="32004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271847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Calibri"/>
              </a:defRPr>
            </a:pPr>
            <a:r>
              <a:t>Collaboration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119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Average Touches per Incident: 2.3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5200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Calibri"/>
              </a:defRPr>
            </a:pPr>
            <a:r>
              <a:t>Active Client Participation: 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19208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C97"/>
                </a:solidFill>
                <a:latin typeface="Calibri"/>
              </a:defRPr>
            </a:pPr>
            <a:r>
              <a:t>Client-Led Closures: 21%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8229600" cy="415636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004C97"/>
                </a:solidFill>
                <a:latin typeface="Calibri"/>
              </a:defRPr>
            </a:pPr>
            <a:r>
              <a:t>82.5% of after-hours alerts handled by CS SOC without requiring customer notification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Calibri"/>
              </a:defRPr>
            </a:pPr>
            <a:r>
              <a:t>Next Period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955280" cy="640080"/>
          </a:xfrm>
          <a:prstGeom prst="rect">
            <a:avLst/>
          </a:prstGeom>
          <a:noFill/>
        </p:spPr>
        <p:txBody>
          <a:bodyPr wrap="square" lIns="182880" tIns="91440" rIns="18288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Calibri"/>
              </a:defRPr>
            </a:pPr>
            <a:r>
              <a:t>✓ Trim Palo Alto XDR false positives from 11.2% to 10% threshold (~4 fewer escalations)</a:t>
            </a:r>
          </a:p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Calibri"/>
              </a:defRPr>
            </a:pPr>
            <a:r>
              <a:t>✓ Reduce manual escalations from 38 (14%) to 32 or fewer (12% target)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Calibri"/>
              </a:defRPr>
            </a:pPr>
            <a:r>
              <a:t>Strategic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955280" cy="457200"/>
          </a:xfrm>
          <a:prstGeom prst="rect">
            <a:avLst/>
          </a:prstGeom>
          <a:noFill/>
        </p:spPr>
        <p:txBody>
          <a:bodyPr wrap="square" lIns="182880" tIns="91440" rIns="18288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Calibri"/>
              </a:defRPr>
            </a:pPr>
            <a:r>
              <a:t>✓ Proactive hunts targeting Persistence and Defense Evasion tactics</a:t>
            </a:r>
          </a:p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Calibri"/>
              </a:defRPr>
            </a:pPr>
            <a:r>
              <a:t>✓ Additional playbook coverage for analyst-escalated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Calibri"/>
              </a:defRPr>
            </a:pPr>
            <a:r>
              <a:t>Your Partnership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43741"/>
                </a:solidFill>
                <a:latin typeface="Calibri"/>
              </a:defRPr>
            </a:pPr>
            <a:r>
              <a:t>Questions? Your Customer Success Manager is here to help.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>
                <a:solidFill>
                  <a:srgbClr val="343741"/>
                </a:solidFill>
                <a:latin typeface="Calibri"/>
              </a:defRPr>
            </a:pPr>
            <a:r>
              <a:t>Report generated: November 5, 2025 | Data sources: Escalation Details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749</Words>
  <Application>Microsoft Macintosh PowerPoint</Application>
  <PresentationFormat>On-screen Show (16:9)</PresentationFormat>
  <Paragraphs>145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Kyle Spears</cp:lastModifiedBy>
  <cp:revision>2</cp:revision>
  <dcterms:created xsi:type="dcterms:W3CDTF">2013-01-27T09:14:16Z</dcterms:created>
  <dcterms:modified xsi:type="dcterms:W3CDTF">2025-12-19T17:12:23Z</dcterms:modified>
  <cp:category/>
</cp:coreProperties>
</file>