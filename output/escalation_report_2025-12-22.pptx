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BBA"/>
    <a:srgbClr val="005F9E"/>
    <a:srgbClr val="009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24" d="100"/>
          <a:sy n="124" d="100"/>
        </p:scale>
        <p:origin x="168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94D4"/>
            </a:gs>
            <a:gs pos="61000">
              <a:srgbClr val="017BBA"/>
            </a:gs>
            <a:gs pos="100000">
              <a:srgbClr val="005F9E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914400" y="1371600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400" b="1">
                <a:solidFill>
                  <a:srgbClr val="FFFFFF"/>
                </a:solidFill>
                <a:latin typeface="Roboto"/>
              </a:defRPr>
            </a:pPr>
            <a:r>
              <a:rPr lang="en-US" sz="4400" dirty="0"/>
              <a:t>Executive Business Review</a:t>
            </a:r>
            <a:endParaRPr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>
                <a:solidFill>
                  <a:srgbClr val="FFFFFF"/>
                </a:solidFill>
                <a:latin typeface="Roboto"/>
              </a:defRPr>
            </a:pPr>
            <a:r>
              <a:rPr dirty="0"/>
              <a:t>Signature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Roboto"/>
              </a:defRPr>
            </a:pPr>
            <a:r>
              <a:t>Lennar Corporation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  <a:latin typeface="Roboto"/>
              </a:defRPr>
            </a:pPr>
            <a:r>
              <a:t>August 1-31, 2025 (31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10615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rPr dirty="0">
                <a:solidFill>
                  <a:schemeClr val="bg1"/>
                </a:solidFill>
              </a:rPr>
              <a:t>DECEMBER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4496" y="4732020"/>
            <a:ext cx="143500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rPr dirty="0">
                <a:solidFill>
                  <a:schemeClr val="bg1"/>
                </a:solidFill>
              </a:rPr>
              <a:t>©2025 CRITICAL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744" y="4732020"/>
            <a:ext cx="3930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rPr dirty="0">
                <a:solidFill>
                  <a:schemeClr val="bg1"/>
                </a:solidFill>
              </a:rPr>
              <a:t>EBR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205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Roboto"/>
              </a:defRPr>
            </a:pPr>
            <a:r>
              <a:rPr dirty="0"/>
              <a:t>Report Date: November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4C97"/>
                </a:solidFill>
                <a:latin typeface="Roboto"/>
              </a:defRPr>
            </a:pPr>
            <a:r>
              <a:rPr sz="3200" dirty="0"/>
              <a:t>267 Incidents Escalated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343741"/>
                </a:solidFill>
                <a:latin typeface="Roboto"/>
              </a:defRPr>
            </a:pPr>
            <a:r>
              <a:t>Average 8.9 per day requiring your team's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CS SOC triaged 2,110 alerts this period—1,690 (80%) guided with your team and 420 closed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Period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Threat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11 threats contained, zero breaches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6304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Response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11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34% faster MTTR vs peers (126m vs 192m)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24/7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59% of escalations handled after-hours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10896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32461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Detection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65760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9.0% false positive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792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Modeled Cost Exposure Avoided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813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4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~$7.55M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43741"/>
                </a:solidFill>
                <a:latin typeface="Roboto"/>
              </a:defRPr>
            </a:pPr>
            <a:r>
              <a:rPr dirty="0"/>
              <a:t>Modeled cost exposure avoided across operations, coverage, and threat containment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626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741"/>
                </a:solidFill>
                <a:latin typeface="Roboto"/>
              </a:defRPr>
            </a:pPr>
            <a:r>
              <a:rPr dirty="0"/>
              <a:t>Illustrative impact only; not </a:t>
            </a:r>
            <a:r>
              <a:rPr dirty="0" err="1"/>
              <a:t>redeployable</a:t>
            </a:r>
            <a:r>
              <a:rPr dirty="0"/>
              <a:t>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Value Delivered -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37744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rPr dirty="0"/>
              <a:t>Security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Roboto"/>
              </a:defRPr>
            </a:pPr>
            <a:r>
              <a:rPr dirty="0"/>
              <a:t>452 analyst hours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rPr sz="2000" dirty="0"/>
              <a:t>~$38K equivalent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371600"/>
            <a:ext cx="237744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t>24/7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Roboto"/>
              </a:defRPr>
            </a:pPr>
            <a:r>
              <a:t>744 hours of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00400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rPr sz="2000" dirty="0"/>
              <a:t>~$163K equivalent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371600"/>
            <a:ext cx="237744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t>Threat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Roboto"/>
              </a:defRPr>
            </a:pPr>
            <a:r>
              <a:t>11 intrusions contained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138844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rPr sz="2000" dirty="0"/>
              <a:t>~$7.34M </a:t>
            </a:r>
            <a:endParaRPr lang="en-US" sz="2000" dirty="0"/>
          </a:p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breach exposure avoided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343741"/>
                </a:solidFill>
                <a:latin typeface="Roboto"/>
              </a:defRPr>
            </a:pPr>
            <a:r>
              <a:t>Methodology: Cost equivalents based on industry-standard rates for SOC analyst time, 24/7 monitoring infrastructure, and average breach cost per incident.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Security Outcomes This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7680960" cy="3477875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2,110 Alerts Triaged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1,690 Client-Touch Decisions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420 Closed End-to-End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11 True Threats Contained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34% Faster Than Industry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87-Minute P90 Response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158 After-Hours Escalations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Roboto"/>
              </a:defRPr>
            </a:pPr>
            <a:r>
              <a:rPr sz="1600" dirty="0"/>
              <a:t>• 744 Hours of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Getting Better Every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MTTR (blue) | MTTD (navy) | FP% (red dashed)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rPr dirty="0"/>
              <a:t>MTTR decreased 25% to 126 minutes, MTTD improved 22% to 42 minutes</a:t>
            </a:r>
          </a:p>
        </p:txBody>
      </p:sp>
      <p:pic>
        <p:nvPicPr>
          <p:cNvPr id="12" name="Picture 11" descr="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Industry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7315200" cy="57150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Your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Industry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MTTR (minutes)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0802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802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34% 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MTTD (minutes)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66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517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36% Better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Incidents/Day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8.9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11.4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2232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2232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22% Better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Response Efficiency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37744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Containment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CDE"/>
                </a:solidFill>
                <a:latin typeface="Roboto"/>
              </a:defRPr>
            </a:pPr>
            <a: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(262 of 267)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463040"/>
            <a:ext cx="237744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Playbook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CDE"/>
                </a:solidFill>
                <a:latin typeface="Roboto"/>
              </a:defRPr>
            </a:pPr>
            <a:r>
              <a:t>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(229 incidents)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237744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Analyst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A14"/>
                </a:solidFill>
                <a:latin typeface="Roboto"/>
              </a:defRPr>
            </a:pPr>
            <a:r>
              <a:t>14%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74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(38 incidents)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Detection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True Threat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3340"/>
                </a:solidFill>
                <a:latin typeface="Roboto"/>
              </a:defRPr>
            </a:pPr>
            <a:r>
              <a:rPr dirty="0"/>
              <a:t>31.4%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6304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Signal Fidelity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Roboto"/>
              </a:defRPr>
            </a:pPr>
            <a:r>
              <a:t>91%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False 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A14"/>
                </a:solidFill>
                <a:latin typeface="Roboto"/>
              </a:defRPr>
            </a:pPr>
            <a:r>
              <a:t>9.0%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92608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Client-Validated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Roboto"/>
              </a:defRPr>
            </a:pPr>
            <a:r>
              <a:t>86.9%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8229600" cy="3429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rPr dirty="0"/>
              <a:t>Signal quality improved: false positives fell from 10.8% to 9.0%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834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Severity Alignment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660082"/>
            <a:ext cx="1645920" cy="3657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rPr dirty="0"/>
              <a:t>267 escalations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1" y="1188720"/>
            <a:ext cx="2047382" cy="105156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1" y="1371600"/>
            <a:ext cx="1889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3340"/>
                </a:solidFill>
                <a:latin typeface="Roboto"/>
              </a:defRPr>
            </a:pPr>
            <a: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1" y="1828800"/>
            <a:ext cx="1889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Upgraded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1" y="2321040"/>
            <a:ext cx="2047382" cy="105156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1" y="2503920"/>
            <a:ext cx="1889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CDE"/>
                </a:solidFill>
                <a:latin typeface="Roboto"/>
              </a:defRPr>
            </a:pPr>
            <a: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1" y="2961120"/>
            <a:ext cx="1889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De-escalated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1" y="3473779"/>
            <a:ext cx="2047382" cy="1051560"/>
          </a:xfrm>
          <a:prstGeom prst="rect">
            <a:avLst/>
          </a:prstGeom>
          <a:solidFill>
            <a:srgbClr val="F0F8FF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71501" y="3656659"/>
            <a:ext cx="1889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168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1" y="4113859"/>
            <a:ext cx="1889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Aligned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1" y="4110453"/>
            <a:ext cx="5554979" cy="600164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rPr sz="1100" dirty="0"/>
              <a:t>• 34 escalations upgraded (12.7%) - CS raised severity based on business impact</a:t>
            </a:r>
            <a:br>
              <a:rPr sz="1100" dirty="0"/>
            </a:br>
            <a:r>
              <a:rPr sz="1100" dirty="0"/>
              <a:t>• 65 escalations de-escalated (24.3%) - CS reduced noise from vendor over-classification</a:t>
            </a:r>
          </a:p>
        </p:txBody>
      </p:sp>
      <p:pic>
        <p:nvPicPr>
          <p:cNvPr id="23" name="Picture 22" descr="sanke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1" y="1183005"/>
            <a:ext cx="5554979" cy="2777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200" dirty="0"/>
              <a:t>Threat Landscape by Tactic &amp; Severity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29100"/>
            <a:ext cx="7680960" cy="320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4C97"/>
                </a:solidFill>
                <a:latin typeface="Roboto"/>
              </a:defRPr>
            </a:pPr>
            <a:r>
              <a:rPr dirty="0"/>
              <a:t>Persistence tactics generated 77 escalations with 12 high-severity cases (15.6%)</a:t>
            </a:r>
          </a:p>
        </p:txBody>
      </p:sp>
      <p:pic>
        <p:nvPicPr>
          <p:cNvPr id="13" name="Picture 12" descr="stacked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Detection Sources &amp;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Palo Alto Cortex XDR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189 incidents (70.8%)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2103120" cy="4572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Roboto"/>
              </a:defRPr>
            </a:pPr>
            <a:r>
              <a:t>FP Rate: 11.2%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Above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46304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Microsoft 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52 incidents (19.5%)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3200400"/>
            <a:ext cx="2103120" cy="4572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Roboto"/>
              </a:defRPr>
            </a:pPr>
            <a:r>
              <a:t>FP Rate: 5.8%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Good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46304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CrowdStrike Falcon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26 incidents (9.7%)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200400"/>
            <a:ext cx="2103120" cy="4572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Roboto"/>
              </a:defRPr>
            </a:pPr>
            <a:r>
              <a:t>FP Rate: 7.7%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Good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23403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23403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23403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Prioritized Improvement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6411"/>
            <a:ext cx="8229600" cy="1012091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23571"/>
            <a:ext cx="914400" cy="272486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23571"/>
            <a:ext cx="676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1 - Detection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0771"/>
            <a:ext cx="7863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rPr sz="1100" dirty="0"/>
              <a:t>Palo Alto Cortex XDR false positive rate is 11.2%, exceeding the 10.0% threshold</a:t>
            </a:r>
            <a:endParaRPr lang="en-US" sz="1100" dirty="0"/>
          </a:p>
          <a:p>
            <a:pPr>
              <a:defRPr sz="1200">
                <a:solidFill>
                  <a:srgbClr val="343741"/>
                </a:solidFill>
                <a:latin typeface="Roboto"/>
              </a:defRPr>
            </a:pPr>
            <a:r>
              <a:rPr lang="en-US" sz="1100" dirty="0"/>
              <a:t>Owner: CS SOC + Lennar Security Team | Target: Next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1382"/>
            <a:ext cx="7863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Reduce escalations by ~20%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35662"/>
            <a:ext cx="8229600" cy="1012091"/>
          </a:xfrm>
          <a:prstGeom prst="rect">
            <a:avLst/>
          </a:prstGeom>
          <a:solidFill>
            <a:srgbClr val="F0F8FF"/>
          </a:solidFill>
          <a:ln w="508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572822"/>
            <a:ext cx="914400" cy="272486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572822"/>
            <a:ext cx="676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2 - Automation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30022"/>
            <a:ext cx="7863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rPr sz="1100" dirty="0"/>
              <a:t>Manual escalations at 14% exceed 12% target. 38 incidents required analyst judgment</a:t>
            </a:r>
            <a:endParaRPr lang="en-US" sz="1100" dirty="0"/>
          </a:p>
          <a:p>
            <a:pPr>
              <a:defRPr sz="1200">
                <a:solidFill>
                  <a:srgbClr val="343741"/>
                </a:solidFill>
                <a:latin typeface="Roboto"/>
              </a:defRPr>
            </a:pPr>
            <a:r>
              <a:rPr lang="en-US" sz="1100" dirty="0"/>
              <a:t>Owner: CS SOC Engineering | Target: Next 60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43343"/>
            <a:ext cx="7863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Reduce manual review burden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97623"/>
            <a:ext cx="8229600" cy="1012091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734783"/>
            <a:ext cx="91440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734783"/>
            <a:ext cx="6766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3 - Threat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91983"/>
            <a:ext cx="7863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rPr sz="1100" dirty="0"/>
              <a:t>Persistence + Defense Evasion account for 67% of high-severity incidents</a:t>
            </a:r>
            <a:endParaRPr lang="en-US" sz="1100" dirty="0"/>
          </a:p>
          <a:p>
            <a:pPr>
              <a:defRPr sz="1200">
                <a:solidFill>
                  <a:srgbClr val="343741"/>
                </a:solidFill>
                <a:latin typeface="Roboto"/>
              </a:defRPr>
            </a:pPr>
            <a:r>
              <a:rPr lang="en-US" sz="1100" dirty="0"/>
              <a:t>Owner: Joint - CS Threat Intel + Lennar | Target: 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9584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rPr dirty="0"/>
              <a:t>Expected Impact: Improved detection of advanced threats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97276"/>
            <a:ext cx="24086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597276"/>
            <a:ext cx="24086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597276"/>
            <a:ext cx="24086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Operational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47966"/>
            <a:ext cx="3291840" cy="2648361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11520"/>
            <a:ext cx="2970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After-Hours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52290"/>
            <a:ext cx="2970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After Hours Calls: 18% (136 of 756)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92370"/>
            <a:ext cx="2970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Weekend Calls: 15% (22 of 147)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32450"/>
            <a:ext cx="2970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Total Off-Hours Calls: 158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347966"/>
            <a:ext cx="3291840" cy="2648361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511520"/>
            <a:ext cx="2970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Collaboration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52290"/>
            <a:ext cx="2970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Average Touches per Incident: 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92370"/>
            <a:ext cx="2970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Active Client Participation: 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32450"/>
            <a:ext cx="29706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Client-Led Closures: 21%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35388"/>
            <a:ext cx="7225990" cy="298896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004C97"/>
                </a:solidFill>
                <a:latin typeface="Roboto"/>
              </a:defRPr>
            </a:pPr>
            <a:r>
              <a:rPr sz="1200" dirty="0"/>
              <a:t>82.5% of after-hours alerts handled by CS SOC without requiring customer notification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200" dirty="0"/>
              <a:t>After-Hours Customer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4C97"/>
                </a:solidFill>
                <a:latin typeface="Roboto"/>
              </a:defRPr>
            </a:pPr>
            <a:r>
              <a:rPr sz="6000" dirty="0"/>
              <a:t>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Roboto"/>
              </a:defRPr>
            </a:pPr>
            <a:r>
              <a:rPr dirty="0"/>
              <a:t>After-Hours Escalations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463040"/>
            <a:ext cx="2560320" cy="584775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t>129 Weeknights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584775"/>
          </a:xfrm>
          <a:prstGeom prst="rect">
            <a:avLst/>
          </a:prstGeom>
          <a:solidFill>
            <a:srgbClr val="FFF8F0"/>
          </a:solidFill>
          <a:ln w="254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FF6A14"/>
                </a:solidFill>
                <a:latin typeface="Roboto"/>
              </a:defRPr>
            </a:pPr>
            <a:r>
              <a:t>29 Weekends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rPr dirty="0"/>
              <a:t>744 hours of nonstop coverage · 86% auto-routed via playbooks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What This Means for Your Organization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rPr sz="1200" dirty="0"/>
              <a:t>Your team received continuous protection outside business hours. 158 incidents were detected and escalated while your team was off-duty, with 86% automatically routed through playbooks—minimizing manual intervention and ensuring no threats went unaddressed.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Response Efficiency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3340"/>
                </a:solidFill>
                <a:latin typeface="Roboto"/>
              </a:defRPr>
            </a:pPr>
            <a: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67m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A14"/>
                </a:solidFill>
                <a:latin typeface="Roboto"/>
              </a:defRPr>
            </a:pPr>
            <a:r>
              <a:t>Target: 30m 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A14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67m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A14"/>
                </a:solidFill>
                <a:latin typeface="Roboto"/>
              </a:defRPr>
            </a:pPr>
            <a:r>
              <a:t>Target: 60m 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Roboto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126m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9CDE"/>
                </a:solidFill>
                <a:latin typeface="Roboto"/>
              </a:defRPr>
            </a:pPr>
            <a:r>
              <a:t>Target: 180m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6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3741"/>
                </a:solidFill>
                <a:latin typeface="Roboto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52m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9CDE"/>
                </a:solidFill>
                <a:latin typeface="Roboto"/>
              </a:defRPr>
            </a:pPr>
            <a:r>
              <a:t>Target: 240m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8229600" cy="707886"/>
          </a:xfrm>
          <a:prstGeom prst="rect">
            <a:avLst/>
          </a:prstGeom>
          <a:solidFill>
            <a:srgbClr val="F0FFF0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/>
          <a:p>
            <a:pPr algn="l">
              <a:defRPr sz="2400" b="1">
                <a:solidFill>
                  <a:srgbClr val="004C97"/>
                </a:solidFill>
                <a:latin typeface="Roboto"/>
              </a:defRPr>
            </a:pPr>
            <a:r>
              <a:rPr sz="2000" dirty="0"/>
              <a:t>P90 Response Time: 87 minutes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rPr sz="1200" dirty="0"/>
              <a:t>90% of incidents responded to within 87 minutes—34% faster than industry median (192m)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37660"/>
            <a:ext cx="8229600" cy="457974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t"/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rPr sz="1200" dirty="0"/>
              <a:t>What This Means: Faster response times mean threats are contained before they can spread. Your 34% advantage translates to reduced risk exposure and better business continuity.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Collaboration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21280" cy="18288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43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t>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CDE"/>
                </a:solidFill>
                <a:latin typeface="Roboto"/>
              </a:defRPr>
            </a:pPr>
            <a:r>
              <a:t>Average Touches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interactions per incident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360" y="1463040"/>
            <a:ext cx="2621280" cy="18288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2800" y="1737360"/>
            <a:ext cx="243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265176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t>Client Participation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301752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of incidents with client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520" y="1463040"/>
            <a:ext cx="2621280" cy="18288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6960" y="1737360"/>
            <a:ext cx="243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t>21%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265176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CDE"/>
                </a:solidFill>
                <a:latin typeface="Roboto"/>
              </a:defRPr>
            </a:pPr>
            <a:r>
              <a:t>Client-Led Closures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6960" y="301752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closed by your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What This Means for Your Organization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rPr sz="1200" dirty="0"/>
              <a:t>Effective collaboration means faster threat resolution. With 72% client participation and 21% client-led closures, your team is actively engaged in the security process while Critical Start handles the heavy lifting.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Detection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21280" cy="164592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43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4C97"/>
                </a:solidFill>
                <a:latin typeface="Roboto"/>
              </a:defRPr>
            </a:pPr>
            <a:r>
              <a:t>31.4%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Roboto"/>
              </a:defRPr>
            </a:pPr>
            <a:r>
              <a:t>True Threat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of escalations were real 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360" y="1463040"/>
            <a:ext cx="2621280" cy="1645920"/>
          </a:xfrm>
          <a:prstGeom prst="rect">
            <a:avLst/>
          </a:prstGeom>
          <a:solidFill>
            <a:srgbClr val="FAFAFA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2800" y="1737360"/>
            <a:ext cx="243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4C97"/>
                </a:solidFill>
                <a:latin typeface="Roboto"/>
              </a:defRPr>
            </a:pPr>
            <a:r>
              <a:t>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246888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4C97"/>
                </a:solidFill>
                <a:latin typeface="Roboto"/>
              </a:defRPr>
            </a:pPr>
            <a:r>
              <a:t>Signal Fidelity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283464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noise filtered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520" y="1463040"/>
            <a:ext cx="2621280" cy="164592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6960" y="1737360"/>
            <a:ext cx="243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4C97"/>
                </a:solidFill>
                <a:latin typeface="Roboto"/>
              </a:defRPr>
            </a:pPr>
            <a:r>
              <a:t>86.9%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246888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Roboto"/>
              </a:defRPr>
            </a:pPr>
            <a:r>
              <a:t>Client 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6960" y="283464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confirmed by your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0FFF0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rPr dirty="0"/>
              <a:t>False Positive Rate: 9.0% ✓ Within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11930"/>
            <a:ext cx="8229600" cy="5486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t"/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rPr sz="1200" dirty="0"/>
              <a:t>What This Means: High detection quality means less noise for your team. With 91% signal fidelity, Critical Start filters out the false alarms so your analysts focus only on real threats.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Security Outcomes This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rPr dirty="0"/>
              <a:t>2,110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Alerts Triaged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rPr dirty="0"/>
              <a:t>1,690 guided · 420 closed 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64592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77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Threats Contained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974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100% contained · zero breaches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9184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233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Faster Than Peers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340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126m MTTR vs 192m industry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329184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$7.55M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0233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Cost Exposure Avoided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34340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Modeled operational + breach avoidance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96943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396943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396943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3600" dirty="0"/>
              <a:t>Key Takeaways: This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8229600" cy="564455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48549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rPr dirty="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61795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34% faster response than industry peers—threats are contained before spreading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30063"/>
            <a:ext cx="8229600" cy="564455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61367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rPr dirty="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33235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100% threat containment with zero breaches this period across 11 true positive incidents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97424"/>
            <a:ext cx="8229600" cy="564455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82554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rPr dirty="0"/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00258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$7.55M in modeled cost exposure avoided through proactive security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64713"/>
            <a:ext cx="8229600" cy="564455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439213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rPr dirty="0"/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90830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rPr sz="1400" dirty="0"/>
              <a:t>158 after-hours escalations handled seamlessly with 86% automation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rPr sz="4000" dirty="0"/>
              <a:t>Looking 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rPr dirty="0"/>
              <a:t>Next Period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7955280" cy="656590"/>
          </a:xfrm>
          <a:prstGeom prst="rect">
            <a:avLst/>
          </a:prstGeom>
          <a:noFill/>
        </p:spPr>
        <p:txBody>
          <a:bodyPr wrap="square" lIns="182880" tIns="91440" rIns="18288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rPr sz="1200" dirty="0"/>
              <a:t>✓ Trim Palo Alto XDR false positives from 11.2% to 10% threshold (~4 fewer escalations)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rPr sz="1200" dirty="0"/>
              <a:t>✓ Reduce manual escalations from 38 (14%) to 32 or fewer (12%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6827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Strategic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25470"/>
            <a:ext cx="7955280" cy="656590"/>
          </a:xfrm>
          <a:prstGeom prst="rect">
            <a:avLst/>
          </a:prstGeom>
          <a:noFill/>
        </p:spPr>
        <p:txBody>
          <a:bodyPr wrap="square" lIns="182880" tIns="91440" rIns="18288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rPr sz="1200" dirty="0"/>
              <a:t>✓ Proactive hunts targeting Persistence and Defense Evasion tactics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rPr sz="1200" dirty="0"/>
              <a:t>✓ Additional playbook coverage for analyst-escalated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735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rPr dirty="0"/>
              <a:t>Your Partnership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49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Roboto"/>
              </a:defRPr>
            </a:pPr>
            <a:r>
              <a:rPr dirty="0"/>
              <a:t>Questions? Your Customer Success Manager is here to help.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1348</Words>
  <Application>Microsoft Macintosh PowerPoint</Application>
  <PresentationFormat>On-screen Show (16:9)</PresentationFormat>
  <Paragraphs>341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Kyle Spears</cp:lastModifiedBy>
  <cp:revision>2</cp:revision>
  <dcterms:created xsi:type="dcterms:W3CDTF">2013-01-27T09:14:16Z</dcterms:created>
  <dcterms:modified xsi:type="dcterms:W3CDTF">2025-12-22T18:01:11Z</dcterms:modified>
  <cp:category/>
</cp:coreProperties>
</file>