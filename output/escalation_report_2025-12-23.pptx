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4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52144" cy="5143500"/>
          </a:xfrm>
          <a:prstGeom prst="rect">
            <a:avLst/>
          </a:prstGeom>
          <a:solidFill>
            <a:srgbClr val="009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0"/>
            <a:ext cx="1152144" cy="5143500"/>
          </a:xfrm>
          <a:prstGeom prst="rect">
            <a:avLst/>
          </a:prstGeom>
          <a:solidFill>
            <a:srgbClr val="0090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0" y="0"/>
            <a:ext cx="1152144" cy="5143500"/>
          </a:xfrm>
          <a:prstGeom prst="rect">
            <a:avLst/>
          </a:prstGeom>
          <a:solidFill>
            <a:srgbClr val="008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29000" y="0"/>
            <a:ext cx="1152144" cy="5143500"/>
          </a:xfrm>
          <a:prstGeom prst="rect">
            <a:avLst/>
          </a:prstGeom>
          <a:solidFill>
            <a:srgbClr val="007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1152144" cy="5143500"/>
          </a:xfrm>
          <a:prstGeom prst="rect">
            <a:avLst/>
          </a:prstGeom>
          <a:solidFill>
            <a:srgbClr val="006E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15000" y="0"/>
            <a:ext cx="1152144" cy="5143500"/>
          </a:xfrm>
          <a:prstGeom prst="rect">
            <a:avLst/>
          </a:prstGeom>
          <a:solidFill>
            <a:srgbClr val="0062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0" y="0"/>
            <a:ext cx="1152144" cy="5143500"/>
          </a:xfrm>
          <a:prstGeom prst="rect">
            <a:avLst/>
          </a:prstGeom>
          <a:solidFill>
            <a:srgbClr val="005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01000" y="0"/>
            <a:ext cx="1152144" cy="5143500"/>
          </a:xfrm>
          <a:prstGeom prst="rect">
            <a:avLst/>
          </a:prstGeom>
          <a:solidFill>
            <a:srgbClr val="004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400" b="1">
                <a:solidFill>
                  <a:srgbClr val="FFFFFF"/>
                </a:solidFill>
                <a:latin typeface="Roboto"/>
              </a:defRPr>
            </a:pPr>
            <a:r>
              <a:t>ESCALATION TO CLIENT</a:t>
            </a:r>
            <a:br/>
            <a:r>
              <a:t>DETAILS REPORT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260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>
                <a:solidFill>
                  <a:srgbClr val="FFFFFF"/>
                </a:solidFill>
                <a:latin typeface="Roboto"/>
              </a:defRPr>
            </a:pPr>
            <a:r>
              <a:t>Signature Tier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832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  <a:latin typeface="Roboto"/>
              </a:defRPr>
            </a:pPr>
            <a:r>
              <a:t>Lennar Corporation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840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>
                <a:solidFill>
                  <a:srgbClr val="FFFFFF"/>
                </a:solidFill>
                <a:latin typeface="Roboto"/>
              </a:defRPr>
            </a:pPr>
            <a:r>
              <a:t>August 1-31, 2025 (31 days)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DECEMBER 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©2025 CRITICAL START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EBR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205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  <a:latin typeface="Roboto"/>
              </a:defRPr>
            </a:pPr>
            <a:r>
              <a:t>Report Date: November 5,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343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ESCALATION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CRITICAL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DECEMBER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©2025 CRITICAL START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EBR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64592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  <a:latin typeface="Roboto"/>
              </a:defRPr>
            </a:pPr>
            <a:r>
              <a:t>Executive Summary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83464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700" b="0">
                <a:solidFill>
                  <a:srgbClr val="FFFFFF"/>
                </a:solidFill>
                <a:latin typeface="Roboto"/>
              </a:defRPr>
            </a:pPr>
            <a:r>
              <a:t>A comprehensive view of your security posture and the value delivered this period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ESCALATION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CRITICAL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DECEMBER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©2025 CRITICAL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4C97"/>
                </a:solidFill>
                <a:latin typeface="Roboto"/>
              </a:defRPr>
            </a:pPr>
            <a:r>
              <a:t>Executive 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46304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004C97"/>
                </a:solidFill>
                <a:latin typeface="Roboto"/>
              </a:defRPr>
            </a:pPr>
            <a:r>
              <a:t>267 Incidents Escalated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688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343741"/>
                </a:solidFill>
                <a:latin typeface="Roboto"/>
              </a:defRPr>
            </a:pPr>
            <a:r>
              <a:t>Average 8.9 per day requiring your team's attention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175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>
                <a:solidFill>
                  <a:srgbClr val="343741"/>
                </a:solidFill>
                <a:latin typeface="Roboto"/>
              </a:defRPr>
            </a:pPr>
            <a:r>
              <a:t>CS SOC triaged 2,110 alerts this period—1,690 (80%) guided with your team and 420 closed end-to-end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ESCALATION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CRITICAL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DECEMBER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©2025 CRITICAL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4C97"/>
                </a:solidFill>
                <a:latin typeface="Roboto"/>
              </a:defRPr>
            </a:pPr>
            <a:r>
              <a:t>Period Highlights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63040"/>
            <a:ext cx="3429000" cy="137160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0020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4C97"/>
                </a:solidFill>
                <a:latin typeface="Roboto"/>
              </a:defRPr>
            </a:pPr>
            <a:r>
              <a:t>Threat Outcomes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11680"/>
            <a:ext cx="3063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343741"/>
                </a:solidFill>
                <a:latin typeface="Roboto"/>
              </a:defRPr>
            </a:pPr>
            <a:r>
              <a:t>11 threats contained, zero breaches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60520" y="1463040"/>
            <a:ext cx="3429000" cy="137160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160020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4C97"/>
                </a:solidFill>
                <a:latin typeface="Roboto"/>
              </a:defRPr>
            </a:pPr>
            <a:r>
              <a:t>Response Advantage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2011680"/>
            <a:ext cx="3063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343741"/>
                </a:solidFill>
                <a:latin typeface="Roboto"/>
              </a:defRPr>
            </a:pPr>
            <a:r>
              <a:t>34% faster MTTR vs peers (126m vs 192m)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108960"/>
            <a:ext cx="3429000" cy="137160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24612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4C97"/>
                </a:solidFill>
                <a:latin typeface="Roboto"/>
              </a:defRPr>
            </a:pPr>
            <a:r>
              <a:t>24/7 Protection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657600"/>
            <a:ext cx="3063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343741"/>
                </a:solidFill>
                <a:latin typeface="Roboto"/>
              </a:defRPr>
            </a:pPr>
            <a:r>
              <a:t>59% of escalations handled after-hours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3108960"/>
            <a:ext cx="3429000" cy="137160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324612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4C97"/>
                </a:solidFill>
                <a:latin typeface="Roboto"/>
              </a:defRPr>
            </a:pPr>
            <a:r>
              <a:t>Detection Quality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3657600"/>
            <a:ext cx="3063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343741"/>
                </a:solidFill>
                <a:latin typeface="Roboto"/>
              </a:defRPr>
            </a:pPr>
            <a:r>
              <a:t>9.0% false positive rate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343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ESCALATION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CRITICAL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DECEMBER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©2025 CRITICAL START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EBR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64592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  <a:latin typeface="Roboto"/>
              </a:defRPr>
            </a:pPr>
            <a:r>
              <a:t>Value Delivered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83464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700" b="0">
                <a:solidFill>
                  <a:srgbClr val="FFFFFF"/>
                </a:solidFill>
                <a:latin typeface="Roboto"/>
              </a:defRPr>
            </a:pPr>
            <a:r>
              <a:t>Quantifying the business impact: cost avoidance, operational efficiency, and breach prevention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ESCALATION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CRITICAL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DECEMBER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©2025 CRITICAL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4C97"/>
                </a:solidFill>
                <a:latin typeface="Roboto"/>
              </a:defRPr>
            </a:pPr>
            <a:r>
              <a:t>Modeled Cost Exposure Avoided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400" b="1">
                <a:solidFill>
                  <a:srgbClr val="004C97"/>
                </a:solidFill>
                <a:latin typeface="Roboto"/>
              </a:defRPr>
            </a:pPr>
            <a:r>
              <a:t>~$7.55M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343741"/>
                </a:solidFill>
                <a:latin typeface="Roboto"/>
              </a:defRPr>
            </a:pPr>
            <a:r>
              <a:t>Modeled cost exposure avoided across operations, coverage, and threat containment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3662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i="1">
                <a:solidFill>
                  <a:srgbClr val="343741"/>
                </a:solidFill>
                <a:latin typeface="Roboto"/>
              </a:defRPr>
            </a:pPr>
            <a:r>
              <a:t>Illustrative impact only; not redeployable budget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ESCALATION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CRITICAL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DECEMBER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©2025 CRITICAL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4C97"/>
                </a:solidFill>
                <a:latin typeface="Roboto"/>
              </a:defRPr>
            </a:pPr>
            <a:r>
              <a:t>Value Delivered - Breakdown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2377440" cy="256032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45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4C97"/>
                </a:solidFill>
                <a:latin typeface="Roboto"/>
              </a:defRPr>
            </a:pPr>
            <a:r>
              <a:t>Security Operations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8600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343741"/>
                </a:solidFill>
                <a:latin typeface="Roboto"/>
              </a:defRPr>
            </a:pPr>
            <a:r>
              <a:t>452 analyst hours delivered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004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4C97"/>
                </a:solidFill>
                <a:latin typeface="Roboto"/>
              </a:defRPr>
            </a:pPr>
            <a:r>
              <a:t>~$38K equivalent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371600"/>
            <a:ext cx="2377440" cy="256032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0" y="1645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4C97"/>
                </a:solidFill>
                <a:latin typeface="Roboto"/>
              </a:defRPr>
            </a:pPr>
            <a:r>
              <a:t>24/7 Coverage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28600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343741"/>
                </a:solidFill>
                <a:latin typeface="Roboto"/>
              </a:defRPr>
            </a:pPr>
            <a:r>
              <a:t>744 hours of monitoring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004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4C97"/>
                </a:solidFill>
                <a:latin typeface="Roboto"/>
              </a:defRPr>
            </a:pPr>
            <a:r>
              <a:t>~$163K equivalent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77840" y="1371600"/>
            <a:ext cx="2377440" cy="256032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0" y="1645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4C97"/>
                </a:solidFill>
                <a:latin typeface="Roboto"/>
              </a:defRPr>
            </a:pPr>
            <a:r>
              <a:t>Threat Prevention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0" y="228600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343741"/>
                </a:solidFill>
                <a:latin typeface="Roboto"/>
              </a:defRPr>
            </a:pPr>
            <a:r>
              <a:t>11 intrusions contained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32004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4C97"/>
                </a:solidFill>
                <a:latin typeface="Roboto"/>
              </a:defRPr>
            </a:pPr>
            <a:r>
              <a:t>~$7.34M breach exposure avoided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i="1">
                <a:solidFill>
                  <a:srgbClr val="343741"/>
                </a:solidFill>
                <a:latin typeface="Roboto"/>
              </a:defRPr>
            </a:pPr>
            <a:r>
              <a:t>Methodology: Cost equivalents based on industry-standard rates for SOC analyst time, 24/7 monitoring infrastructure, and average breach cost per incident.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ESCALATION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CRITICAL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DECEMBER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©2025 CRITICAL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4C97"/>
                </a:solidFill>
                <a:latin typeface="Roboto"/>
              </a:defRPr>
            </a:pPr>
            <a:r>
              <a:t>Security Outcomes This Period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7680960" cy="3177540"/>
          </a:xfrm>
          <a:prstGeom prst="rect">
            <a:avLst/>
          </a:prstGeom>
          <a:noFill/>
        </p:spPr>
        <p:txBody>
          <a:bodyPr wrap="square" lIns="274320" rIns="274320" tIns="182880" bIns="182880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343741"/>
                </a:solidFill>
                <a:latin typeface="Roboto"/>
              </a:defRPr>
            </a:pPr>
            <a:r>
              <a:t>• 2,110 Alerts Triaged</a:t>
            </a:r>
          </a:p>
          <a:p>
            <a:pPr>
              <a:spcAft>
                <a:spcPts val="1200"/>
              </a:spcAft>
              <a:defRPr sz="1800" b="0">
                <a:solidFill>
                  <a:srgbClr val="343741"/>
                </a:solidFill>
                <a:latin typeface="Roboto"/>
              </a:defRPr>
            </a:pPr>
            <a:r>
              <a:t>• 1,690 Client-Touch Decisions</a:t>
            </a:r>
          </a:p>
          <a:p>
            <a:pPr>
              <a:spcAft>
                <a:spcPts val="1200"/>
              </a:spcAft>
              <a:defRPr sz="1800" b="0">
                <a:solidFill>
                  <a:srgbClr val="343741"/>
                </a:solidFill>
                <a:latin typeface="Roboto"/>
              </a:defRPr>
            </a:pPr>
            <a:r>
              <a:t>• 420 Closed End-to-End</a:t>
            </a:r>
          </a:p>
          <a:p>
            <a:pPr>
              <a:spcAft>
                <a:spcPts val="1200"/>
              </a:spcAft>
              <a:defRPr sz="1800" b="0">
                <a:solidFill>
                  <a:srgbClr val="343741"/>
                </a:solidFill>
                <a:latin typeface="Roboto"/>
              </a:defRPr>
            </a:pPr>
            <a:r>
              <a:t>• 11 True Threats Contained</a:t>
            </a:r>
          </a:p>
          <a:p>
            <a:pPr>
              <a:spcAft>
                <a:spcPts val="1200"/>
              </a:spcAft>
              <a:defRPr sz="1800" b="0">
                <a:solidFill>
                  <a:srgbClr val="343741"/>
                </a:solidFill>
                <a:latin typeface="Roboto"/>
              </a:defRPr>
            </a:pPr>
            <a:r>
              <a:t>• 34% Faster Than Industry</a:t>
            </a:r>
          </a:p>
          <a:p>
            <a:pPr>
              <a:spcAft>
                <a:spcPts val="1200"/>
              </a:spcAft>
              <a:defRPr sz="1800" b="0">
                <a:solidFill>
                  <a:srgbClr val="343741"/>
                </a:solidFill>
                <a:latin typeface="Roboto"/>
              </a:defRPr>
            </a:pPr>
            <a:r>
              <a:t>• 87-Minute P90 Response</a:t>
            </a:r>
          </a:p>
          <a:p>
            <a:pPr>
              <a:spcAft>
                <a:spcPts val="1200"/>
              </a:spcAft>
              <a:defRPr sz="1800" b="0">
                <a:solidFill>
                  <a:srgbClr val="343741"/>
                </a:solidFill>
                <a:latin typeface="Roboto"/>
              </a:defRPr>
            </a:pPr>
            <a:r>
              <a:t>• 158 After-Hours Escalations</a:t>
            </a:r>
          </a:p>
          <a:p>
            <a:pPr>
              <a:spcAft>
                <a:spcPts val="1200"/>
              </a:spcAft>
              <a:defRPr sz="1800" b="0">
                <a:solidFill>
                  <a:srgbClr val="343741"/>
                </a:solidFill>
                <a:latin typeface="Roboto"/>
              </a:defRPr>
            </a:pPr>
            <a:r>
              <a:t>• 744 Hours of Coverage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343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ESCALATION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CRITICAL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DECEMBER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©2025 CRITICAL START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EBR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64592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  <a:latin typeface="Roboto"/>
              </a:defRPr>
            </a:pPr>
            <a:r>
              <a:t>Protection Achieved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83464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700" b="0">
                <a:solidFill>
                  <a:srgbClr val="FFFFFF"/>
                </a:solidFill>
                <a:latin typeface="Roboto"/>
              </a:defRPr>
            </a:pPr>
            <a:r>
              <a:t>Measurable outcomes that exceed industry standards and reduce your breach risk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ESCALATION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CRITICAL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DECEMBER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©2025 CRITICAL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4C97"/>
                </a:solidFill>
                <a:latin typeface="Roboto"/>
              </a:defRPr>
            </a:pPr>
            <a:r>
              <a:t>Getting Better Every Period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43741"/>
                </a:solidFill>
                <a:latin typeface="Roboto"/>
              </a:defRPr>
            </a:pPr>
            <a:r>
              <a:t>MTTR (blue) | MTTD (navy) | FP% (red dashed)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572000"/>
            <a:ext cx="7680960" cy="73152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600" b="1">
                <a:solidFill>
                  <a:srgbClr val="004C97"/>
                </a:solidFill>
                <a:latin typeface="Roboto"/>
              </a:defRPr>
            </a:pPr>
            <a:r>
              <a:t>MTTR decreased 25% to 126 minutes, MTTD improved 22% to 42 minutes</a:t>
            </a:r>
          </a:p>
        </p:txBody>
      </p:sp>
      <p:pic>
        <p:nvPicPr>
          <p:cNvPr id="12" name="Picture 11" descr="trend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463040"/>
            <a:ext cx="45720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ESCALATION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CRITICAL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DECEMBER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©2025 CRITICAL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4C97"/>
                </a:solidFill>
                <a:latin typeface="Roboto"/>
              </a:defRPr>
            </a:pPr>
            <a:r>
              <a:t>Industry Comparison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1463040"/>
            <a:ext cx="7315200" cy="571500"/>
          </a:xfrm>
          <a:prstGeom prst="rect">
            <a:avLst/>
          </a:prstGeom>
          <a:solidFill>
            <a:srgbClr val="004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508760"/>
            <a:ext cx="16459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Roboto"/>
              </a:defRPr>
            </a:pPr>
            <a:r>
              <a:t>Metric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1508760"/>
            <a:ext cx="16459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Roboto"/>
              </a:defRPr>
            </a:pPr>
            <a:r>
              <a:t>Your Performance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1508760"/>
            <a:ext cx="16459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Roboto"/>
              </a:defRPr>
            </a:pPr>
            <a:r>
              <a:t>Industry Average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508760"/>
            <a:ext cx="16459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Roboto"/>
              </a:defRPr>
            </a:pPr>
            <a:r>
              <a:t>Difference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034540"/>
            <a:ext cx="7315200" cy="5715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2080260"/>
            <a:ext cx="16459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43741"/>
                </a:solidFill>
                <a:latin typeface="Roboto"/>
              </a:defRPr>
            </a:pPr>
            <a:r>
              <a:t>MTTR (minutes)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2080260"/>
            <a:ext cx="16459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43741"/>
                </a:solidFill>
                <a:latin typeface="Roboto"/>
              </a:defRPr>
            </a:pPr>
            <a:r>
              <a:t>126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2080260"/>
            <a:ext cx="16459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43741"/>
                </a:solidFill>
                <a:latin typeface="Roboto"/>
              </a:defRPr>
            </a:pPr>
            <a:r>
              <a:t>192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0" y="2080260"/>
            <a:ext cx="1645920" cy="480060"/>
          </a:xfrm>
          <a:prstGeom prst="rect">
            <a:avLst/>
          </a:prstGeom>
          <a:solidFill>
            <a:srgbClr val="009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080260"/>
            <a:ext cx="1645920" cy="4800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Roboto"/>
              </a:defRPr>
            </a:pPr>
            <a:r>
              <a:t>34% Better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651760"/>
            <a:ext cx="16459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43741"/>
                </a:solidFill>
                <a:latin typeface="Roboto"/>
              </a:defRPr>
            </a:pPr>
            <a:r>
              <a:t>MTTD (minutes)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2651760"/>
            <a:ext cx="16459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43741"/>
                </a:solidFill>
                <a:latin typeface="Roboto"/>
              </a:defRPr>
            </a:pPr>
            <a:r>
              <a:t>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2651760"/>
            <a:ext cx="16459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43741"/>
                </a:solidFill>
                <a:latin typeface="Roboto"/>
              </a:defRPr>
            </a:pPr>
            <a:r>
              <a:t>66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2651760"/>
            <a:ext cx="1645920" cy="480060"/>
          </a:xfrm>
          <a:prstGeom prst="rect">
            <a:avLst/>
          </a:prstGeom>
          <a:solidFill>
            <a:srgbClr val="009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2651760"/>
            <a:ext cx="1645920" cy="4800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Roboto"/>
              </a:defRPr>
            </a:pPr>
            <a:r>
              <a:t>36% Better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3177540"/>
            <a:ext cx="7315200" cy="5715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3223260"/>
            <a:ext cx="16459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43741"/>
                </a:solidFill>
                <a:latin typeface="Roboto"/>
              </a:defRPr>
            </a:pPr>
            <a:r>
              <a:t>Incidents/Day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40" y="3223260"/>
            <a:ext cx="16459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43741"/>
                </a:solidFill>
                <a:latin typeface="Roboto"/>
              </a:defRPr>
            </a:pPr>
            <a:r>
              <a:t>8.9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3223260"/>
            <a:ext cx="16459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43741"/>
                </a:solidFill>
                <a:latin typeface="Roboto"/>
              </a:defRPr>
            </a:pPr>
            <a:r>
              <a:t>11.4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92240" y="3223260"/>
            <a:ext cx="1645920" cy="480060"/>
          </a:xfrm>
          <a:prstGeom prst="rect">
            <a:avLst/>
          </a:prstGeom>
          <a:solidFill>
            <a:srgbClr val="009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3223260"/>
            <a:ext cx="1645920" cy="4800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Roboto"/>
              </a:defRPr>
            </a:pPr>
            <a:r>
              <a:t>22% Better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ESCALATION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CRITICAL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DECEMBER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©2025 CRITICAL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4C97"/>
                </a:solidFill>
                <a:latin typeface="Roboto"/>
              </a:defRPr>
            </a:pPr>
            <a:r>
              <a:t>Response Efficiency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63040"/>
            <a:ext cx="2377440" cy="2560320"/>
          </a:xfrm>
          <a:prstGeom prst="rect">
            <a:avLst/>
          </a:prstGeom>
          <a:solidFill>
            <a:srgbClr val="F0F8FF"/>
          </a:solidFill>
          <a:ln w="381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7373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4C97"/>
                </a:solidFill>
                <a:latin typeface="Roboto"/>
              </a:defRPr>
            </a:pPr>
            <a:r>
              <a:t>Containment 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3774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9CDE"/>
                </a:solidFill>
                <a:latin typeface="Roboto"/>
              </a:defRPr>
            </a:pPr>
            <a:r>
              <a:t>98%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7472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43741"/>
                </a:solidFill>
                <a:latin typeface="Roboto"/>
              </a:defRPr>
            </a:pPr>
            <a:r>
              <a:t>(262 of 267)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463040"/>
            <a:ext cx="2377440" cy="2560320"/>
          </a:xfrm>
          <a:prstGeom prst="rect">
            <a:avLst/>
          </a:prstGeom>
          <a:solidFill>
            <a:srgbClr val="F0F8FF"/>
          </a:solidFill>
          <a:ln w="381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0" y="17373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4C97"/>
                </a:solidFill>
                <a:latin typeface="Roboto"/>
              </a:defRPr>
            </a:pPr>
            <a:r>
              <a:t>Playbook Automation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3774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9CDE"/>
                </a:solidFill>
                <a:latin typeface="Roboto"/>
              </a:defRPr>
            </a:pPr>
            <a:r>
              <a:t>86%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47472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43741"/>
                </a:solidFill>
                <a:latin typeface="Roboto"/>
              </a:defRPr>
            </a:pPr>
            <a:r>
              <a:t>(229 incidents)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77840" y="1463040"/>
            <a:ext cx="2377440" cy="2560320"/>
          </a:xfrm>
          <a:prstGeom prst="rect">
            <a:avLst/>
          </a:prstGeom>
          <a:solidFill>
            <a:srgbClr val="F0F8FF"/>
          </a:solidFill>
          <a:ln w="38100">
            <a:solidFill>
              <a:srgbClr val="FF6A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0" y="17373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4C97"/>
                </a:solidFill>
                <a:latin typeface="Roboto"/>
              </a:defRPr>
            </a:pPr>
            <a:r>
              <a:t>Analyst Escalation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0" y="23774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6A14"/>
                </a:solidFill>
                <a:latin typeface="Roboto"/>
              </a:defRPr>
            </a:pPr>
            <a:r>
              <a:t>14%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347472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43741"/>
                </a:solidFill>
                <a:latin typeface="Roboto"/>
              </a:defRPr>
            </a:pPr>
            <a:r>
              <a:t>(38 incidents)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ESCALATION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CRITICAL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DECEMBER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©2025 CRITICAL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4C97"/>
                </a:solidFill>
                <a:latin typeface="Roboto"/>
              </a:defRPr>
            </a:pPr>
            <a:r>
              <a:t>Detection Quality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63040"/>
            <a:ext cx="3566160" cy="1280160"/>
          </a:xfrm>
          <a:prstGeom prst="rect">
            <a:avLst/>
          </a:prstGeom>
          <a:solidFill>
            <a:srgbClr val="F0F8FF"/>
          </a:solidFill>
          <a:ln w="38100">
            <a:solidFill>
              <a:srgbClr val="EF3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459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4C97"/>
                </a:solidFill>
                <a:latin typeface="Roboto"/>
              </a:defRPr>
            </a:pPr>
            <a:r>
              <a:t>True Threat Precision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10312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F3340"/>
                </a:solidFill>
                <a:latin typeface="Roboto"/>
              </a:defRPr>
            </a:pPr>
            <a:r>
              <a:t>31.4%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1463040"/>
            <a:ext cx="3566160" cy="1280160"/>
          </a:xfrm>
          <a:prstGeom prst="rect">
            <a:avLst/>
          </a:prstGeom>
          <a:solidFill>
            <a:srgbClr val="F0F8FF"/>
          </a:solidFill>
          <a:ln w="381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16459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4C97"/>
                </a:solidFill>
                <a:latin typeface="Roboto"/>
              </a:defRPr>
            </a:pPr>
            <a:r>
              <a:t>Signal Fidelity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210312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9CDE"/>
                </a:solidFill>
                <a:latin typeface="Roboto"/>
              </a:defRPr>
            </a:pPr>
            <a:r>
              <a:t>91%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26080"/>
            <a:ext cx="3566160" cy="1280160"/>
          </a:xfrm>
          <a:prstGeom prst="rect">
            <a:avLst/>
          </a:prstGeom>
          <a:solidFill>
            <a:srgbClr val="F0F8FF"/>
          </a:solidFill>
          <a:ln w="38100">
            <a:solidFill>
              <a:srgbClr val="FF6A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089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4C97"/>
                </a:solidFill>
                <a:latin typeface="Roboto"/>
              </a:defRPr>
            </a:pPr>
            <a:r>
              <a:t>False Positive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56616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6A14"/>
                </a:solidFill>
                <a:latin typeface="Roboto"/>
              </a:defRPr>
            </a:pPr>
            <a:r>
              <a:t>9.0%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06240" y="2926080"/>
            <a:ext cx="3566160" cy="1280160"/>
          </a:xfrm>
          <a:prstGeom prst="rect">
            <a:avLst/>
          </a:prstGeom>
          <a:solidFill>
            <a:srgbClr val="F0F8FF"/>
          </a:solidFill>
          <a:ln w="381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31089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4C97"/>
                </a:solidFill>
                <a:latin typeface="Roboto"/>
              </a:defRPr>
            </a:pPr>
            <a:r>
              <a:t>Client-Validated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356616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9CDE"/>
                </a:solidFill>
                <a:latin typeface="Roboto"/>
              </a:defRPr>
            </a:pPr>
            <a:r>
              <a:t>86.9%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663440"/>
            <a:ext cx="8229600" cy="64008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600" b="1">
                <a:solidFill>
                  <a:srgbClr val="004C97"/>
                </a:solidFill>
                <a:latin typeface="Roboto"/>
              </a:defRPr>
            </a:pPr>
            <a:r>
              <a:t>Signal quality improved: false positives fell from 10.8% to 9.0%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343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ESCALATION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CRITICAL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DECEMBER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©2025 CRITICAL START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EBR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64592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  <a:latin typeface="Roboto"/>
              </a:defRPr>
            </a:pPr>
            <a:r>
              <a:t>Threat Landscape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83464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700" b="0">
                <a:solidFill>
                  <a:srgbClr val="FFFFFF"/>
                </a:solidFill>
                <a:latin typeface="Roboto"/>
              </a:defRPr>
            </a:pPr>
            <a:r>
              <a:t>Understanding the threats we're seeing and how we're adapting to protect your organization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ESCALATION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CRITICAL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DECEMBER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©2025 CRITICAL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4C97"/>
                </a:solidFill>
                <a:latin typeface="Roboto"/>
              </a:defRPr>
            </a:pPr>
            <a:r>
              <a:t>Severity Alignment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82296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>
                <a:solidFill>
                  <a:srgbClr val="343741"/>
                </a:solidFill>
                <a:latin typeface="Roboto"/>
              </a:defRPr>
            </a:pPr>
            <a:r>
              <a:t>Vendor-reported criticality vs. Critical Start adjudication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0" y="822960"/>
            <a:ext cx="1645920" cy="365760"/>
          </a:xfrm>
          <a:prstGeom prst="rect">
            <a:avLst/>
          </a:prstGeom>
          <a:solidFill>
            <a:srgbClr val="009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200" b="1">
                <a:solidFill>
                  <a:srgbClr val="FFFFFF"/>
                </a:solidFill>
                <a:latin typeface="Roboto"/>
              </a:defRPr>
            </a:pPr>
            <a:r>
              <a:t>267 escalations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463040"/>
            <a:ext cx="2377440" cy="1097280"/>
          </a:xfrm>
          <a:prstGeom prst="rect">
            <a:avLst/>
          </a:prstGeom>
          <a:solidFill>
            <a:srgbClr val="F0F8FF"/>
          </a:solidFill>
          <a:ln w="38100">
            <a:solidFill>
              <a:srgbClr val="EF3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6459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F3340"/>
                </a:solidFill>
                <a:latin typeface="Roboto"/>
              </a:defRPr>
            </a:pPr>
            <a:r>
              <a:t>34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43741"/>
                </a:solidFill>
                <a:latin typeface="Roboto"/>
              </a:defRPr>
            </a:pPr>
            <a:r>
              <a:t>Upgraded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463040"/>
            <a:ext cx="2377440" cy="1097280"/>
          </a:xfrm>
          <a:prstGeom prst="rect">
            <a:avLst/>
          </a:prstGeom>
          <a:solidFill>
            <a:srgbClr val="F0F8FF"/>
          </a:solidFill>
          <a:ln w="381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08960" y="16459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9CDE"/>
                </a:solidFill>
                <a:latin typeface="Roboto"/>
              </a:defRPr>
            </a:pPr>
            <a:r>
              <a:t>65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21031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43741"/>
                </a:solidFill>
                <a:latin typeface="Roboto"/>
              </a:defRPr>
            </a:pPr>
            <a:r>
              <a:t>De-escalated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77840" y="1463040"/>
            <a:ext cx="2377440" cy="1097280"/>
          </a:xfrm>
          <a:prstGeom prst="rect">
            <a:avLst/>
          </a:prstGeom>
          <a:solidFill>
            <a:srgbClr val="F0F8FF"/>
          </a:solidFill>
          <a:ln w="38100">
            <a:solidFill>
              <a:srgbClr val="004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0" y="16459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4C97"/>
                </a:solidFill>
                <a:latin typeface="Roboto"/>
              </a:defRPr>
            </a:pPr>
            <a:r>
              <a:t>168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0" y="21031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43741"/>
                </a:solidFill>
                <a:latin typeface="Roboto"/>
              </a:defRPr>
            </a:pPr>
            <a:r>
              <a:t>Aligned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846320"/>
            <a:ext cx="7680960" cy="731520"/>
          </a:xfrm>
          <a:prstGeom prst="rect">
            <a:avLst/>
          </a:prstGeom>
          <a:noFill/>
        </p:spPr>
        <p:txBody>
          <a:bodyPr wrap="square" lIns="182880" rIns="182880">
            <a:spAutoFit/>
          </a:bodyPr>
          <a:lstStyle/>
          <a:p>
            <a:pPr algn="l">
              <a:defRPr sz="1300">
                <a:solidFill>
                  <a:srgbClr val="343741"/>
                </a:solidFill>
                <a:latin typeface="Roboto"/>
              </a:defRPr>
            </a:pPr>
            <a:r>
              <a:t>• 34 escalations upgraded (12.7%) - CS raised severity based on business impact</a:t>
            </a:r>
            <a:br/>
            <a:r>
              <a:t>• 65 escalations de-escalated (24.3%) - CS reduced noise from vendor over-classification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6863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i="1">
                <a:solidFill>
                  <a:srgbClr val="343741"/>
                </a:solidFill>
                <a:latin typeface="Roboto"/>
              </a:defRPr>
            </a:pPr>
            <a:r>
              <a:t>Source: Vendor Severity (col 45) vs. Current Priority (col 13)</a:t>
            </a:r>
          </a:p>
        </p:txBody>
      </p:sp>
      <p:pic>
        <p:nvPicPr>
          <p:cNvPr id="23" name="Picture 22" descr="sankey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2834640"/>
            <a:ext cx="36576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ESCALATION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CRITICAL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DECEMBER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©2025 CRITICAL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4C97"/>
                </a:solidFill>
                <a:latin typeface="Roboto"/>
              </a:defRPr>
            </a:pPr>
            <a:r>
              <a:t>Threat Landscape by Tactic &amp; Severity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8912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343741"/>
                </a:solidFill>
                <a:latin typeface="Roboto"/>
              </a:defRPr>
            </a:pPr>
            <a:r>
              <a:t>High (red) | Medium (orange) | Low (blue) | Info (gray)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937760"/>
            <a:ext cx="7680960" cy="54864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400" b="1">
                <a:solidFill>
                  <a:srgbClr val="004C97"/>
                </a:solidFill>
                <a:latin typeface="Roboto"/>
              </a:defRPr>
            </a:pPr>
            <a:r>
              <a:t>Persistence tactics generated 77 escalations with 12 high-severity cases (15.6%)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6863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i="1">
                <a:solidFill>
                  <a:srgbClr val="343741"/>
                </a:solidFill>
                <a:latin typeface="Roboto"/>
              </a:defRPr>
            </a:pPr>
            <a:r>
              <a:t>Source: MITRE ATT&amp;CK Tactic (col X) and Current Priority (col 13)</a:t>
            </a:r>
          </a:p>
        </p:txBody>
      </p:sp>
      <p:pic>
        <p:nvPicPr>
          <p:cNvPr id="13" name="Picture 12" descr="stacked_bar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463040"/>
            <a:ext cx="54864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ESCALATION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CRITICAL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DECEMBER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©2025 CRITICAL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4C97"/>
                </a:solidFill>
                <a:latin typeface="Roboto"/>
              </a:defRPr>
            </a:pPr>
            <a:r>
              <a:t>Detection Sources &amp; Quality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63040"/>
            <a:ext cx="2377440" cy="2743200"/>
          </a:xfrm>
          <a:prstGeom prst="rect">
            <a:avLst/>
          </a:prstGeom>
          <a:solidFill>
            <a:srgbClr val="F0F8FF"/>
          </a:solidFill>
          <a:ln w="38100">
            <a:solidFill>
              <a:srgbClr val="FF6A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7373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4C97"/>
                </a:solidFill>
                <a:latin typeface="Roboto"/>
              </a:defRPr>
            </a:pPr>
            <a:r>
              <a:t>Palo Alto Cortex XDR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4688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343741"/>
                </a:solidFill>
                <a:latin typeface="Roboto"/>
              </a:defRPr>
            </a:pPr>
            <a:r>
              <a:t>189 incidents (70.8%)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3200400"/>
            <a:ext cx="2103120" cy="914400"/>
          </a:xfrm>
          <a:prstGeom prst="rect">
            <a:avLst/>
          </a:prstGeom>
          <a:solidFill>
            <a:srgbClr val="FF6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2000" b="1">
                <a:solidFill>
                  <a:srgbClr val="FFFFFF"/>
                </a:solidFill>
                <a:latin typeface="Roboto"/>
              </a:defRPr>
            </a:pPr>
            <a:r>
              <a:t>FP Rate: 11.2%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2062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343741"/>
                </a:solidFill>
                <a:latin typeface="Roboto"/>
              </a:defRPr>
            </a:pPr>
            <a:r>
              <a:t>Above threshold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463040"/>
            <a:ext cx="2377440" cy="2743200"/>
          </a:xfrm>
          <a:prstGeom prst="rect">
            <a:avLst/>
          </a:prstGeom>
          <a:solidFill>
            <a:srgbClr val="F0F8FF"/>
          </a:solidFill>
          <a:ln w="381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54680" y="17373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4C97"/>
                </a:solidFill>
                <a:latin typeface="Roboto"/>
              </a:defRPr>
            </a:pPr>
            <a:r>
              <a:t>Microsoft Sentinel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24688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343741"/>
                </a:solidFill>
                <a:latin typeface="Roboto"/>
              </a:defRPr>
            </a:pPr>
            <a:r>
              <a:t>52 incidents (19.5%)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54680" y="3200400"/>
            <a:ext cx="2103120" cy="914400"/>
          </a:xfrm>
          <a:prstGeom prst="rect">
            <a:avLst/>
          </a:prstGeom>
          <a:solidFill>
            <a:srgbClr val="009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2000" b="1">
                <a:solidFill>
                  <a:srgbClr val="FFFFFF"/>
                </a:solidFill>
                <a:latin typeface="Roboto"/>
              </a:defRPr>
            </a:pPr>
            <a:r>
              <a:t>FP Rate: 5.8%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54680" y="42062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343741"/>
                </a:solidFill>
                <a:latin typeface="Roboto"/>
              </a:defRPr>
            </a:pPr>
            <a:r>
              <a:t>Good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577840" y="1463040"/>
            <a:ext cx="2377440" cy="2743200"/>
          </a:xfrm>
          <a:prstGeom prst="rect">
            <a:avLst/>
          </a:prstGeom>
          <a:solidFill>
            <a:srgbClr val="F0F8FF"/>
          </a:solidFill>
          <a:ln w="381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15000" y="17373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4C97"/>
                </a:solidFill>
                <a:latin typeface="Roboto"/>
              </a:defRPr>
            </a:pPr>
            <a:r>
              <a:t>CrowdStrike Falcon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15000" y="24688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343741"/>
                </a:solidFill>
                <a:latin typeface="Roboto"/>
              </a:defRPr>
            </a:pPr>
            <a:r>
              <a:t>26 incidents (9.7%)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15000" y="3200400"/>
            <a:ext cx="2103120" cy="914400"/>
          </a:xfrm>
          <a:prstGeom prst="rect">
            <a:avLst/>
          </a:prstGeom>
          <a:solidFill>
            <a:srgbClr val="009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2000" b="1">
                <a:solidFill>
                  <a:srgbClr val="FFFFFF"/>
                </a:solidFill>
                <a:latin typeface="Roboto"/>
              </a:defRPr>
            </a:pPr>
            <a:r>
              <a:t>FP Rate: 7.7%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0" y="42062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343741"/>
                </a:solidFill>
                <a:latin typeface="Roboto"/>
              </a:defRPr>
            </a:pPr>
            <a:r>
              <a:t>Good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343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ESCALATION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CRITICAL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DECEMBER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©2025 CRITICAL START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EBR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64592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  <a:latin typeface="Roboto"/>
              </a:defRPr>
            </a:pPr>
            <a:r>
              <a:t>Insights &amp; Continuous Improvement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83464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700" b="0">
                <a:solidFill>
                  <a:srgbClr val="FFFFFF"/>
                </a:solidFill>
                <a:latin typeface="Roboto"/>
              </a:defRPr>
            </a:pPr>
            <a:r>
              <a:t>How we're evolving our partnership to advance your security maturity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ESCALATION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CRITICAL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DECEMBER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©2025 CRITICAL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4C97"/>
                </a:solidFill>
                <a:latin typeface="Roboto"/>
              </a:defRPr>
            </a:pPr>
            <a:r>
              <a:t>Prioritized Improvement Plan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63040"/>
            <a:ext cx="8229600" cy="1188720"/>
          </a:xfrm>
          <a:prstGeom prst="rect">
            <a:avLst/>
          </a:prstGeom>
          <a:solidFill>
            <a:srgbClr val="F0F8FF"/>
          </a:solidFill>
          <a:ln w="50800">
            <a:solidFill>
              <a:srgbClr val="EF3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600200"/>
            <a:ext cx="914400" cy="320040"/>
          </a:xfrm>
          <a:prstGeom prst="rect">
            <a:avLst/>
          </a:prstGeom>
          <a:solidFill>
            <a:srgbClr val="EF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200" b="1">
                <a:solidFill>
                  <a:srgbClr val="FFFFFF"/>
                </a:solidFill>
                <a:latin typeface="Roboto"/>
              </a:defRPr>
            </a:pPr>
            <a:r>
              <a:t>HIGH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600200"/>
            <a:ext cx="6766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4C97"/>
                </a:solidFill>
                <a:latin typeface="Roboto"/>
              </a:defRPr>
            </a:pPr>
            <a:r>
              <a:t>Item 1 - Detection Tuning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7863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>
                <a:solidFill>
                  <a:srgbClr val="343741"/>
                </a:solidFill>
                <a:latin typeface="Roboto"/>
              </a:defRPr>
            </a:pPr>
            <a:r>
              <a:t>Palo Alto Cortex XDR false positive rate is 11.2%, exceeding the 10.0% threshold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146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>
                <a:solidFill>
                  <a:srgbClr val="343741"/>
                </a:solidFill>
                <a:latin typeface="Roboto"/>
              </a:defRPr>
            </a:pPr>
            <a:r>
              <a:t>Owner: CS SOC + Lennar Security Team | Target: Next 30 days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88036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4C97"/>
                </a:solidFill>
                <a:latin typeface="Roboto"/>
              </a:defRPr>
            </a:pPr>
            <a:r>
              <a:t>Expected Impact: Reduce escalations by ~20%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34640"/>
            <a:ext cx="8229600" cy="1188720"/>
          </a:xfrm>
          <a:prstGeom prst="rect">
            <a:avLst/>
          </a:prstGeom>
          <a:solidFill>
            <a:srgbClr val="F0F8FF"/>
          </a:solidFill>
          <a:ln w="50800">
            <a:solidFill>
              <a:srgbClr val="FF6A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914400" cy="320040"/>
          </a:xfrm>
          <a:prstGeom prst="rect">
            <a:avLst/>
          </a:prstGeom>
          <a:solidFill>
            <a:srgbClr val="FF6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200" b="1">
                <a:solidFill>
                  <a:srgbClr val="FFFFFF"/>
                </a:solidFill>
                <a:latin typeface="Roboto"/>
              </a:defRPr>
            </a:pPr>
            <a:r>
              <a:t>MEDIUM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2971800"/>
            <a:ext cx="6766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4C97"/>
                </a:solidFill>
                <a:latin typeface="Roboto"/>
              </a:defRPr>
            </a:pPr>
            <a:r>
              <a:t>Item 2 - Automation Opportunity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429000"/>
            <a:ext cx="7863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>
                <a:solidFill>
                  <a:srgbClr val="343741"/>
                </a:solidFill>
                <a:latin typeface="Roboto"/>
              </a:defRPr>
            </a:pPr>
            <a:r>
              <a:t>Manual escalations at 14% exceed 12% target. 38 incidents required analyst judgment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8862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>
                <a:solidFill>
                  <a:srgbClr val="343741"/>
                </a:solidFill>
                <a:latin typeface="Roboto"/>
              </a:defRPr>
            </a:pPr>
            <a:r>
              <a:t>Owner: CS SOC Engineering | Target: Next 60 days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25196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4C97"/>
                </a:solidFill>
                <a:latin typeface="Roboto"/>
              </a:defRPr>
            </a:pPr>
            <a:r>
              <a:t>Expected Impact: Reduce manual review burden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206240"/>
            <a:ext cx="8229600" cy="1188720"/>
          </a:xfrm>
          <a:prstGeom prst="rect">
            <a:avLst/>
          </a:prstGeom>
          <a:solidFill>
            <a:srgbClr val="F0F8FF"/>
          </a:solidFill>
          <a:ln w="50800">
            <a:solidFill>
              <a:srgbClr val="EF3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343400"/>
            <a:ext cx="914400" cy="320040"/>
          </a:xfrm>
          <a:prstGeom prst="rect">
            <a:avLst/>
          </a:prstGeom>
          <a:solidFill>
            <a:srgbClr val="EF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200" b="1">
                <a:solidFill>
                  <a:srgbClr val="FFFFFF"/>
                </a:solidFill>
                <a:latin typeface="Roboto"/>
              </a:defRPr>
            </a:pPr>
            <a:r>
              <a:t>HIGH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343400"/>
            <a:ext cx="6766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4C97"/>
                </a:solidFill>
                <a:latin typeface="Roboto"/>
              </a:defRPr>
            </a:pPr>
            <a:r>
              <a:t>Item 3 - Threat Focus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800600"/>
            <a:ext cx="7863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>
                <a:solidFill>
                  <a:srgbClr val="343741"/>
                </a:solidFill>
                <a:latin typeface="Roboto"/>
              </a:defRPr>
            </a:pPr>
            <a:r>
              <a:t>Persistence + Defense Evasion account for 67% of high-severity incidents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2578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>
                <a:solidFill>
                  <a:srgbClr val="343741"/>
                </a:solidFill>
                <a:latin typeface="Roboto"/>
              </a:defRPr>
            </a:pPr>
            <a:r>
              <a:t>Owner: Joint - CS Threat Intel + Lennar | Target: Ongoing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62356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4C97"/>
                </a:solidFill>
                <a:latin typeface="Roboto"/>
              </a:defRPr>
            </a:pPr>
            <a:r>
              <a:t>Expected Impact: Improved detection of advanced threats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ESCALATION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CRITICAL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DECEMBER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©2025 CRITICAL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4C97"/>
                </a:solidFill>
                <a:latin typeface="Roboto"/>
              </a:defRPr>
            </a:pPr>
            <a:r>
              <a:t>Operational Insights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63040"/>
            <a:ext cx="3749040" cy="292608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459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4C97"/>
                </a:solidFill>
                <a:latin typeface="Roboto"/>
              </a:defRPr>
            </a:pPr>
            <a:r>
              <a:t>After-Hours Coverage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860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343741"/>
                </a:solidFill>
                <a:latin typeface="Roboto"/>
              </a:defRPr>
            </a:pPr>
            <a:r>
              <a:t>After Hours Calls: 18% (136 of 756)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343741"/>
                </a:solidFill>
                <a:latin typeface="Roboto"/>
              </a:defRPr>
            </a:pPr>
            <a:r>
              <a:t>Weekend Calls: 15% (22 of 147)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5661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4C97"/>
                </a:solidFill>
                <a:latin typeface="Roboto"/>
              </a:defRPr>
            </a:pPr>
            <a:r>
              <a:t>Total Off-Hours Calls: 158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80560" y="1463040"/>
            <a:ext cx="3749040" cy="292608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16459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4C97"/>
                </a:solidFill>
                <a:latin typeface="Roboto"/>
              </a:defRPr>
            </a:pPr>
            <a:r>
              <a:t>Collaboration Quality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2860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343741"/>
                </a:solidFill>
                <a:latin typeface="Roboto"/>
              </a:defRPr>
            </a:pPr>
            <a:r>
              <a:t>Average Touches per Incident: 2.3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292608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343741"/>
                </a:solidFill>
                <a:latin typeface="Roboto"/>
              </a:defRPr>
            </a:pPr>
            <a:r>
              <a:t>Active Client Participation: 72%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5661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4C97"/>
                </a:solidFill>
                <a:latin typeface="Roboto"/>
              </a:defRPr>
            </a:pPr>
            <a:r>
              <a:t>Client-Led Closures: 21%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663440"/>
            <a:ext cx="8229600" cy="64008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500" b="1">
                <a:solidFill>
                  <a:srgbClr val="004C97"/>
                </a:solidFill>
                <a:latin typeface="Roboto"/>
              </a:defRPr>
            </a:pPr>
            <a:r>
              <a:t>82.5% of after-hours alerts handled by CS SOC without requiring customer notification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ESCALATION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CRITICAL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DECEMBER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©2025 CRITICAL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4C97"/>
                </a:solidFill>
                <a:latin typeface="Roboto"/>
              </a:defRPr>
            </a:pPr>
            <a:r>
              <a:t>After-Hours Customer Notifications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004C97"/>
                </a:solidFill>
                <a:latin typeface="Roboto"/>
              </a:defRPr>
            </a:pPr>
            <a:r>
              <a:t>158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6032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>
                <a:solidFill>
                  <a:srgbClr val="343741"/>
                </a:solidFill>
                <a:latin typeface="Roboto"/>
              </a:defRPr>
            </a:pPr>
            <a:r>
              <a:t>After-Hours Escalations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0" y="1463040"/>
            <a:ext cx="2560320" cy="91440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2400" b="1">
                <a:solidFill>
                  <a:srgbClr val="004C97"/>
                </a:solidFill>
                <a:latin typeface="Roboto"/>
              </a:defRPr>
            </a:pPr>
            <a:r>
              <a:t>129 Weeknights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463040"/>
            <a:ext cx="2560320" cy="914400"/>
          </a:xfrm>
          <a:prstGeom prst="rect">
            <a:avLst/>
          </a:prstGeom>
          <a:solidFill>
            <a:srgbClr val="FFF8F0"/>
          </a:solidFill>
          <a:ln w="25400">
            <a:solidFill>
              <a:srgbClr val="FF6A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2400" b="1">
                <a:solidFill>
                  <a:srgbClr val="FF6A14"/>
                </a:solidFill>
                <a:latin typeface="Roboto"/>
              </a:defRPr>
            </a:pPr>
            <a:r>
              <a:t>29 Weekends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651760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343741"/>
                </a:solidFill>
                <a:latin typeface="Roboto"/>
              </a:defRPr>
            </a:pPr>
            <a:r>
              <a:t>744 hours of nonstop coverage · 86% auto-routed via playbooks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00400"/>
            <a:ext cx="8229600" cy="1097280"/>
          </a:xfrm>
          <a:prstGeom prst="rect">
            <a:avLst/>
          </a:prstGeom>
          <a:solidFill>
            <a:srgbClr val="F0F8FF"/>
          </a:solidFill>
          <a:ln w="381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37160" bIns="137160"/>
          <a:lstStyle/>
          <a:p>
            <a:pPr algn="l">
              <a:defRPr sz="1600" b="1">
                <a:solidFill>
                  <a:srgbClr val="004C97"/>
                </a:solidFill>
                <a:latin typeface="Roboto"/>
              </a:defRPr>
            </a:pPr>
            <a:r>
              <a:t>What This Means for Your Organization</a:t>
            </a:r>
          </a:p>
          <a:p>
            <a:pPr algn="l">
              <a:defRPr sz="1400">
                <a:solidFill>
                  <a:srgbClr val="343741"/>
                </a:solidFill>
                <a:latin typeface="Roboto"/>
              </a:defRPr>
            </a:pPr>
            <a:r>
              <a:t>Your team received continuous protection outside business hours. 158 incidents were detected and escalated while your team was off-duty, with 86% automatically routed through playbooks—minimizing manual intervention and ensuring no threats went unaddressed.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ESCALATION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CRITICAL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DECEMBER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©2025 CRITICAL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4C97"/>
                </a:solidFill>
                <a:latin typeface="Roboto"/>
              </a:defRPr>
            </a:pPr>
            <a:r>
              <a:t>Response Efficiency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63040"/>
            <a:ext cx="1965960" cy="1463040"/>
          </a:xfrm>
          <a:prstGeom prst="rect">
            <a:avLst/>
          </a:prstGeom>
          <a:solidFill>
            <a:srgbClr val="FAFAFA"/>
          </a:solidFill>
          <a:ln w="38100">
            <a:solidFill>
              <a:srgbClr val="EF3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55448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EF3340"/>
                </a:solidFill>
                <a:latin typeface="Roboto"/>
              </a:defRPr>
            </a:pPr>
            <a:r>
              <a:t>Critical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20240"/>
            <a:ext cx="1783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4C97"/>
                </a:solidFill>
                <a:latin typeface="Roboto"/>
              </a:defRPr>
            </a:pPr>
            <a:r>
              <a:t>67m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65176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FF6A14"/>
                </a:solidFill>
                <a:latin typeface="Roboto"/>
              </a:defRPr>
            </a:pPr>
            <a:r>
              <a:t>Target: 30m 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6040" y="1463040"/>
            <a:ext cx="1965960" cy="1463040"/>
          </a:xfrm>
          <a:prstGeom prst="rect">
            <a:avLst/>
          </a:prstGeom>
          <a:solidFill>
            <a:srgbClr val="FAFAFA"/>
          </a:solidFill>
          <a:ln w="38100">
            <a:solidFill>
              <a:srgbClr val="FF6A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97480" y="155448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6A14"/>
                </a:solidFill>
                <a:latin typeface="Roboto"/>
              </a:defRPr>
            </a:pPr>
            <a:r>
              <a:t>High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1920240"/>
            <a:ext cx="1783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4C97"/>
                </a:solidFill>
                <a:latin typeface="Roboto"/>
              </a:defRPr>
            </a:pPr>
            <a:r>
              <a:t>67m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265176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FF6A14"/>
                </a:solidFill>
                <a:latin typeface="Roboto"/>
              </a:defRPr>
            </a:pPr>
            <a:r>
              <a:t>Target: 60m 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0" y="1463040"/>
            <a:ext cx="1965960" cy="1463040"/>
          </a:xfrm>
          <a:prstGeom prst="rect">
            <a:avLst/>
          </a:prstGeom>
          <a:solidFill>
            <a:srgbClr val="FAFAFA"/>
          </a:solidFill>
          <a:ln w="381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155448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9CDE"/>
                </a:solidFill>
                <a:latin typeface="Roboto"/>
              </a:defRPr>
            </a:pPr>
            <a:r>
              <a:t>Medium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1920240"/>
            <a:ext cx="1783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4C97"/>
                </a:solidFill>
                <a:latin typeface="Roboto"/>
              </a:defRPr>
            </a:pPr>
            <a:r>
              <a:t>126m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265176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009CDE"/>
                </a:solidFill>
                <a:latin typeface="Roboto"/>
              </a:defRPr>
            </a:pPr>
            <a:r>
              <a:t>Target: 180m 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03720" y="1463040"/>
            <a:ext cx="1965960" cy="1463040"/>
          </a:xfrm>
          <a:prstGeom prst="rect">
            <a:avLst/>
          </a:prstGeom>
          <a:solidFill>
            <a:srgbClr val="FAFAFA"/>
          </a:solidFill>
          <a:ln w="38100">
            <a:solidFill>
              <a:srgbClr val="343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95160" y="155448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343741"/>
                </a:solidFill>
                <a:latin typeface="Roboto"/>
              </a:defRPr>
            </a:pPr>
            <a:r>
              <a:t>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1920240"/>
            <a:ext cx="1783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4C97"/>
                </a:solidFill>
                <a:latin typeface="Roboto"/>
              </a:defRPr>
            </a:pPr>
            <a:r>
              <a:t>52m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265176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009CDE"/>
                </a:solidFill>
                <a:latin typeface="Roboto"/>
              </a:defRPr>
            </a:pPr>
            <a:r>
              <a:t>Target: 240m 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291840"/>
            <a:ext cx="8229600" cy="914400"/>
          </a:xfrm>
          <a:prstGeom prst="rect">
            <a:avLst/>
          </a:prstGeom>
          <a:solidFill>
            <a:srgbClr val="F0FFF0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137160" bIns="137160"/>
          <a:lstStyle/>
          <a:p>
            <a:pPr algn="l">
              <a:defRPr sz="2400" b="1">
                <a:solidFill>
                  <a:srgbClr val="004C97"/>
                </a:solidFill>
                <a:latin typeface="Roboto"/>
              </a:defRPr>
            </a:pPr>
            <a:r>
              <a:t>P90 Response Time: 87 minutes</a:t>
            </a:r>
          </a:p>
          <a:p>
            <a:pPr algn="l">
              <a:defRPr sz="1400">
                <a:solidFill>
                  <a:srgbClr val="343741"/>
                </a:solidFill>
                <a:latin typeface="Roboto"/>
              </a:defRPr>
            </a:pPr>
            <a:r>
              <a:t>90% of incidents responded to within 87 minutes—34% faster than industry median (192m)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480560"/>
            <a:ext cx="8229600" cy="73152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/>
          <a:lstStyle/>
          <a:p>
            <a:pPr algn="l">
              <a:defRPr sz="1400" b="1">
                <a:solidFill>
                  <a:srgbClr val="004C97"/>
                </a:solidFill>
                <a:latin typeface="Roboto"/>
              </a:defRPr>
            </a:pPr>
            <a:r>
              <a:t>What This Means: Faster response times mean threats are contained before they can spread. Your 34% advantage translates to reduced risk exposure and better business continuity.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ESCALATION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CRITICAL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DECEMBER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©2025 CRITICAL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4C97"/>
                </a:solidFill>
                <a:latin typeface="Roboto"/>
              </a:defRPr>
            </a:pPr>
            <a:r>
              <a:t>Collaboration Quality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63040"/>
            <a:ext cx="2621280" cy="1828800"/>
          </a:xfrm>
          <a:prstGeom prst="rect">
            <a:avLst/>
          </a:prstGeom>
          <a:solidFill>
            <a:srgbClr val="FAFAFA"/>
          </a:solidFill>
          <a:ln w="381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737360"/>
            <a:ext cx="243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004C97"/>
                </a:solidFill>
                <a:latin typeface="Roboto"/>
              </a:defRPr>
            </a:pPr>
            <a:r>
              <a:t>2.3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51760"/>
            <a:ext cx="243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09CDE"/>
                </a:solidFill>
                <a:latin typeface="Roboto"/>
              </a:defRPr>
            </a:pPr>
            <a:r>
              <a:t>Average Touches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17520"/>
            <a:ext cx="243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343741"/>
                </a:solidFill>
                <a:latin typeface="Roboto"/>
              </a:defRPr>
            </a:pPr>
            <a:r>
              <a:t>interactions per incident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61360" y="1463040"/>
            <a:ext cx="2621280" cy="1828800"/>
          </a:xfrm>
          <a:prstGeom prst="rect">
            <a:avLst/>
          </a:prstGeom>
          <a:solidFill>
            <a:srgbClr val="FAFAFA"/>
          </a:solidFill>
          <a:ln w="38100">
            <a:solidFill>
              <a:srgbClr val="004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2800" y="1737360"/>
            <a:ext cx="243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004C97"/>
                </a:solidFill>
                <a:latin typeface="Roboto"/>
              </a:defRPr>
            </a:pPr>
            <a:r>
              <a:t>72%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2800" y="2651760"/>
            <a:ext cx="243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04C97"/>
                </a:solidFill>
                <a:latin typeface="Roboto"/>
              </a:defRPr>
            </a:pPr>
            <a:r>
              <a:t>Client Participation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2800" y="3017520"/>
            <a:ext cx="243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343741"/>
                </a:solidFill>
                <a:latin typeface="Roboto"/>
              </a:defRPr>
            </a:pPr>
            <a:r>
              <a:t>of incidents with client input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65520" y="1463040"/>
            <a:ext cx="2621280" cy="1828800"/>
          </a:xfrm>
          <a:prstGeom prst="rect">
            <a:avLst/>
          </a:prstGeom>
          <a:solidFill>
            <a:srgbClr val="FAFAFA"/>
          </a:solidFill>
          <a:ln w="381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56960" y="1737360"/>
            <a:ext cx="243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004C97"/>
                </a:solidFill>
                <a:latin typeface="Roboto"/>
              </a:defRPr>
            </a:pPr>
            <a:r>
              <a:t>21%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56960" y="2651760"/>
            <a:ext cx="243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09CDE"/>
                </a:solidFill>
                <a:latin typeface="Roboto"/>
              </a:defRPr>
            </a:pPr>
            <a:r>
              <a:t>Client-Led Closures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6960" y="3017520"/>
            <a:ext cx="243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343741"/>
                </a:solidFill>
                <a:latin typeface="Roboto"/>
              </a:defRPr>
            </a:pPr>
            <a:r>
              <a:t>closed by your team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657600"/>
            <a:ext cx="8229600" cy="1097280"/>
          </a:xfrm>
          <a:prstGeom prst="rect">
            <a:avLst/>
          </a:prstGeom>
          <a:solidFill>
            <a:srgbClr val="F0F8FF"/>
          </a:solidFill>
          <a:ln w="381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37160" bIns="137160"/>
          <a:lstStyle/>
          <a:p>
            <a:pPr algn="l">
              <a:defRPr sz="1600" b="1">
                <a:solidFill>
                  <a:srgbClr val="004C97"/>
                </a:solidFill>
                <a:latin typeface="Roboto"/>
              </a:defRPr>
            </a:pPr>
            <a:r>
              <a:t>What This Means for Your Organization</a:t>
            </a:r>
          </a:p>
          <a:p>
            <a:pPr algn="l">
              <a:defRPr sz="1400">
                <a:solidFill>
                  <a:srgbClr val="343741"/>
                </a:solidFill>
                <a:latin typeface="Roboto"/>
              </a:defRPr>
            </a:pPr>
            <a:r>
              <a:t>Effective collaboration means faster threat resolution. With 72% client participation and 21% client-led closures, your team is actively engaged in the security process while Critical Start handles the heavy lifting.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ESCALATION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CRITICAL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DECEMBER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©2025 CRITICAL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4C97"/>
                </a:solidFill>
                <a:latin typeface="Roboto"/>
              </a:defRPr>
            </a:pPr>
            <a:r>
              <a:t>Detection Quality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63040"/>
            <a:ext cx="2621280" cy="1645920"/>
          </a:xfrm>
          <a:prstGeom prst="rect">
            <a:avLst/>
          </a:prstGeom>
          <a:solidFill>
            <a:srgbClr val="FAFAFA"/>
          </a:solidFill>
          <a:ln w="381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737360"/>
            <a:ext cx="243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004C97"/>
                </a:solidFill>
                <a:latin typeface="Roboto"/>
              </a:defRPr>
            </a:pPr>
            <a:r>
              <a:t>31.4%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468880"/>
            <a:ext cx="243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9CDE"/>
                </a:solidFill>
                <a:latin typeface="Roboto"/>
              </a:defRPr>
            </a:pPr>
            <a:r>
              <a:t>True Threat Precision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834640"/>
            <a:ext cx="243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43741"/>
                </a:solidFill>
                <a:latin typeface="Roboto"/>
              </a:defRPr>
            </a:pPr>
            <a:r>
              <a:t>of escalations were real threats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61360" y="1463040"/>
            <a:ext cx="2621280" cy="1645920"/>
          </a:xfrm>
          <a:prstGeom prst="rect">
            <a:avLst/>
          </a:prstGeom>
          <a:solidFill>
            <a:srgbClr val="FAFAFA"/>
          </a:solidFill>
          <a:ln w="38100">
            <a:solidFill>
              <a:srgbClr val="004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2800" y="1737360"/>
            <a:ext cx="243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004C97"/>
                </a:solidFill>
                <a:latin typeface="Roboto"/>
              </a:defRPr>
            </a:pPr>
            <a:r>
              <a:t>91%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2800" y="2468880"/>
            <a:ext cx="243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4C97"/>
                </a:solidFill>
                <a:latin typeface="Roboto"/>
              </a:defRPr>
            </a:pPr>
            <a:r>
              <a:t>Signal Fidelity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2800" y="2834640"/>
            <a:ext cx="243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43741"/>
                </a:solidFill>
                <a:latin typeface="Roboto"/>
              </a:defRPr>
            </a:pPr>
            <a:r>
              <a:t>noise filtered out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65520" y="1463040"/>
            <a:ext cx="2621280" cy="1645920"/>
          </a:xfrm>
          <a:prstGeom prst="rect">
            <a:avLst/>
          </a:prstGeom>
          <a:solidFill>
            <a:srgbClr val="FAFAFA"/>
          </a:solidFill>
          <a:ln w="381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56960" y="1737360"/>
            <a:ext cx="243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004C97"/>
                </a:solidFill>
                <a:latin typeface="Roboto"/>
              </a:defRPr>
            </a:pPr>
            <a:r>
              <a:t>86.9%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56960" y="2468880"/>
            <a:ext cx="243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9CDE"/>
                </a:solidFill>
                <a:latin typeface="Roboto"/>
              </a:defRPr>
            </a:pPr>
            <a:r>
              <a:t>Client Validated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6960" y="2834640"/>
            <a:ext cx="243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43741"/>
                </a:solidFill>
                <a:latin typeface="Roboto"/>
              </a:defRPr>
            </a:pPr>
            <a:r>
              <a:t>confirmed by your team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solidFill>
            <a:srgbClr val="F0FFF0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74320"/>
          <a:lstStyle/>
          <a:p>
            <a:pPr algn="ctr">
              <a:defRPr sz="2000" b="1">
                <a:solidFill>
                  <a:srgbClr val="004C97"/>
                </a:solidFill>
                <a:latin typeface="Roboto"/>
              </a:defRPr>
            </a:pPr>
            <a:r>
              <a:t>False Positive Rate: 9.0% ✓ Within target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89120"/>
            <a:ext cx="8229600" cy="82296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/>
          <a:lstStyle/>
          <a:p>
            <a:pPr algn="l">
              <a:defRPr sz="1400" b="1">
                <a:solidFill>
                  <a:srgbClr val="004C97"/>
                </a:solidFill>
                <a:latin typeface="Roboto"/>
              </a:defRPr>
            </a:pPr>
            <a:r>
              <a:t>What This Means: High detection quality means less noise for your team. With 91% signal fidelity, Critical Start filters out the false alarms so your analysts focus only on real threats.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ESCALATION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CRITICAL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DECEMBER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©2025 CRITICAL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4C97"/>
                </a:solidFill>
                <a:latin typeface="Roboto"/>
              </a:defRPr>
            </a:pPr>
            <a:r>
              <a:t>Security Outcomes This Period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63040"/>
            <a:ext cx="4023360" cy="146304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45920"/>
            <a:ext cx="3749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000" b="1">
                <a:solidFill>
                  <a:srgbClr val="004C97"/>
                </a:solidFill>
                <a:latin typeface="Roboto"/>
              </a:defRPr>
            </a:pPr>
            <a:r>
              <a:t>2,110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377440"/>
            <a:ext cx="3749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009CDE"/>
                </a:solidFill>
                <a:latin typeface="Roboto"/>
              </a:defRPr>
            </a:pPr>
            <a:r>
              <a:t>Alerts Triaged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697480"/>
            <a:ext cx="3749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343741"/>
                </a:solidFill>
                <a:latin typeface="Roboto"/>
              </a:defRPr>
            </a:pPr>
            <a:r>
              <a:t>1,690 guided · 420 closed end-to-end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1463040"/>
            <a:ext cx="4023360" cy="146304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0600" y="1645920"/>
            <a:ext cx="3749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000" b="1">
                <a:solidFill>
                  <a:srgbClr val="004C97"/>
                </a:solidFill>
                <a:latin typeface="Roboto"/>
              </a:defRPr>
            </a:pPr>
            <a:r>
              <a:t>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2377440"/>
            <a:ext cx="3749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009CDE"/>
                </a:solidFill>
                <a:latin typeface="Roboto"/>
              </a:defRPr>
            </a:pPr>
            <a:r>
              <a:t>Threats Contained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97480"/>
            <a:ext cx="3749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343741"/>
                </a:solidFill>
                <a:latin typeface="Roboto"/>
              </a:defRPr>
            </a:pPr>
            <a:r>
              <a:t>100% contained · zero breaches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108960"/>
            <a:ext cx="4023360" cy="146304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3291840"/>
            <a:ext cx="3749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000" b="1">
                <a:solidFill>
                  <a:srgbClr val="004C97"/>
                </a:solidFill>
                <a:latin typeface="Roboto"/>
              </a:defRPr>
            </a:pPr>
            <a:r>
              <a:t>34%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023360"/>
            <a:ext cx="3749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009CDE"/>
                </a:solidFill>
                <a:latin typeface="Roboto"/>
              </a:defRPr>
            </a:pPr>
            <a:r>
              <a:t>Faster Than Peers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343400"/>
            <a:ext cx="3749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343741"/>
                </a:solidFill>
                <a:latin typeface="Roboto"/>
              </a:defRPr>
            </a:pPr>
            <a:r>
              <a:t>126m MTTR vs 192m industry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63440" y="3108960"/>
            <a:ext cx="4023360" cy="146304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0600" y="3291840"/>
            <a:ext cx="3749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000" b="1">
                <a:solidFill>
                  <a:srgbClr val="004C97"/>
                </a:solidFill>
                <a:latin typeface="Roboto"/>
              </a:defRPr>
            </a:pPr>
            <a:r>
              <a:t>$7.55M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4023360"/>
            <a:ext cx="3749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009CDE"/>
                </a:solidFill>
                <a:latin typeface="Roboto"/>
              </a:defRPr>
            </a:pPr>
            <a:r>
              <a:t>Cost Exposure Avoided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4343400"/>
            <a:ext cx="3749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343741"/>
                </a:solidFill>
                <a:latin typeface="Roboto"/>
              </a:defRPr>
            </a:pPr>
            <a:r>
              <a:t>Modeled operational + breach avoidance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ESCALATION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CRITICAL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DECEMBER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©2025 CRITICAL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4C97"/>
                </a:solidFill>
                <a:latin typeface="Roboto"/>
              </a:defRPr>
            </a:pPr>
            <a:r>
              <a:t>Key Takeaways: This Period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63040"/>
            <a:ext cx="8229600" cy="82296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9164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9CDE"/>
                </a:solidFill>
                <a:latin typeface="Roboto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645920"/>
            <a:ext cx="7406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004C97"/>
                </a:solidFill>
                <a:latin typeface="Roboto"/>
              </a:defRPr>
            </a:pPr>
            <a:r>
              <a:t>34% faster response than industry peers—threats are contained before spreading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423160"/>
            <a:ext cx="8229600" cy="82296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65176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9CDE"/>
                </a:solidFill>
                <a:latin typeface="Roboto"/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606040"/>
            <a:ext cx="7406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004C97"/>
                </a:solidFill>
                <a:latin typeface="Roboto"/>
              </a:defRPr>
            </a:pPr>
            <a:r>
              <a:t>100% threat containment with zero breaches this period across 11 true positive incidents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383280"/>
            <a:ext cx="8229600" cy="82296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1188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9CDE"/>
                </a:solidFill>
                <a:latin typeface="Roboto"/>
              </a:defRPr>
            </a:pPr>
            <a: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3566160"/>
            <a:ext cx="7406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004C97"/>
                </a:solidFill>
                <a:latin typeface="Roboto"/>
              </a:defRPr>
            </a:pPr>
            <a:r>
              <a:t>$7.55M in modeled cost exposure avoided through proactive security operations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343400"/>
            <a:ext cx="8229600" cy="82296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5720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9CDE"/>
                </a:solidFill>
                <a:latin typeface="Roboto"/>
              </a:defRPr>
            </a:pPr>
            <a: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526280"/>
            <a:ext cx="7406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004C97"/>
                </a:solidFill>
                <a:latin typeface="Roboto"/>
              </a:defRPr>
            </a:pPr>
            <a:r>
              <a:t>158 after-hours escalations handled seamlessly with 86% automation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343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ESCALATION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CRITICAL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DECEMBER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©2025 CRITICAL START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EBR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64592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  <a:latin typeface="Roboto"/>
              </a:defRPr>
            </a:pPr>
            <a:r>
              <a:t>Forward Direction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83464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700" b="0">
                <a:solidFill>
                  <a:srgbClr val="FFFFFF"/>
                </a:solidFill>
                <a:latin typeface="Roboto"/>
              </a:defRPr>
            </a:pPr>
            <a:r>
              <a:t>Strategic recommendations to strengthen your security posture and maximize partnership value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ESCALATION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CRITICAL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DECEMBER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©2025 CRITICAL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4C97"/>
                </a:solidFill>
                <a:latin typeface="Roboto"/>
              </a:defRPr>
            </a:pPr>
            <a:r>
              <a:t>Looking Ahead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4C97"/>
                </a:solidFill>
                <a:latin typeface="Roboto"/>
              </a:defRPr>
            </a:pPr>
            <a:r>
              <a:t>Next Period Targets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20240"/>
            <a:ext cx="7955280" cy="640080"/>
          </a:xfrm>
          <a:prstGeom prst="rect">
            <a:avLst/>
          </a:prstGeom>
          <a:noFill/>
        </p:spPr>
        <p:txBody>
          <a:bodyPr wrap="square" lIns="182880" rIns="182880" tIns="91440" bIns="91440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09CDE"/>
                </a:solidFill>
                <a:latin typeface="Roboto"/>
              </a:defRPr>
            </a:pPr>
            <a:r>
              <a:t>✓ Trim Palo Alto XDR false positives from 11.2% to 10% threshold (~4 fewer escalations)</a:t>
            </a:r>
          </a:p>
          <a:p>
            <a:pPr>
              <a:spcAft>
                <a:spcPts val="800"/>
              </a:spcAft>
              <a:defRPr sz="1400">
                <a:solidFill>
                  <a:srgbClr val="009CDE"/>
                </a:solidFill>
                <a:latin typeface="Roboto"/>
              </a:defRPr>
            </a:pPr>
            <a:r>
              <a:t>✓ Reduce manual escalations from 38 (14%) to 32 or fewer (12% target)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34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4C97"/>
                </a:solidFill>
                <a:latin typeface="Roboto"/>
              </a:defRPr>
            </a:pPr>
            <a:r>
              <a:t>Strategic Focus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91840"/>
            <a:ext cx="7955280" cy="457200"/>
          </a:xfrm>
          <a:prstGeom prst="rect">
            <a:avLst/>
          </a:prstGeom>
          <a:noFill/>
        </p:spPr>
        <p:txBody>
          <a:bodyPr wrap="square" lIns="182880" rIns="182880" tIns="91440" bIns="91440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09CDE"/>
                </a:solidFill>
                <a:latin typeface="Roboto"/>
              </a:defRPr>
            </a:pPr>
            <a:r>
              <a:t>✓ Proactive hunts targeting Persistence and Defense Evasion tactics</a:t>
            </a:r>
          </a:p>
          <a:p>
            <a:pPr>
              <a:spcAft>
                <a:spcPts val="800"/>
              </a:spcAft>
              <a:defRPr sz="1400">
                <a:solidFill>
                  <a:srgbClr val="009CDE"/>
                </a:solidFill>
                <a:latin typeface="Roboto"/>
              </a:defRPr>
            </a:pPr>
            <a:r>
              <a:t>✓ Additional playbook coverage for analyst-escalated scenarios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4C97"/>
                </a:solidFill>
                <a:latin typeface="Roboto"/>
              </a:defRPr>
            </a:pPr>
            <a:r>
              <a:t>Your Partnership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343741"/>
                </a:solidFill>
                <a:latin typeface="Roboto"/>
              </a:defRPr>
            </a:pPr>
            <a:r>
              <a:t>Questions? Your Customer Success Manager is here to help.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6863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i="1">
                <a:solidFill>
                  <a:srgbClr val="343741"/>
                </a:solidFill>
                <a:latin typeface="Roboto"/>
              </a:defRPr>
            </a:pPr>
            <a:r>
              <a:t>Report generated: November 5, 2025 | Data sources: Escalation Details Report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