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54" d="100"/>
          <a:sy n="154" d="100"/>
        </p:scale>
        <p:origin x="53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09CDE"/>
              </a:gs>
              <a:gs pos="100000">
                <a:srgbClr val="004C97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Roboto"/>
              </a:defRPr>
            </a:pPr>
            <a:r>
              <a:rPr lang="en-US" sz="4400" dirty="0"/>
              <a:t>Executive Business Review</a:t>
            </a:r>
            <a:endParaRPr sz="44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Roboto"/>
              </a:defRPr>
            </a:pPr>
            <a:r>
              <a:t>Signature 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Roboto"/>
              </a:defRPr>
            </a:pPr>
            <a:r>
              <a:t>Lennar Corporation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FFFFFF"/>
                </a:solidFill>
                <a:latin typeface="Roboto"/>
              </a:defRPr>
            </a:pPr>
            <a:r>
              <a:t>August 1-31, 2025 (31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32020"/>
            <a:ext cx="106150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rPr dirty="0">
                <a:solidFill>
                  <a:schemeClr val="bg1"/>
                </a:solidFill>
              </a:rPr>
              <a:t>DECEMBER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4496" y="4732020"/>
            <a:ext cx="143500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rPr>
                <a:solidFill>
                  <a:schemeClr val="bg1"/>
                </a:solidFill>
              </a:rPr>
              <a:t>©2025 CRITICAL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744" y="4732020"/>
            <a:ext cx="39305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rPr>
                <a:solidFill>
                  <a:schemeClr val="bg1"/>
                </a:solidFill>
              </a:rPr>
              <a:t>EBR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205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  <a:latin typeface="Roboto"/>
              </a:defRPr>
            </a:pPr>
            <a:r>
              <a:t>Report Date: November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A comprehensive view of your security posture and the value delivered this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Security Posture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262128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THREAT CONTAINMENT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234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11 threats contained, zero breaches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1360" y="1143000"/>
            <a:ext cx="262128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8520" y="123444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RESPONSE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8520" y="1463040"/>
            <a:ext cx="234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t>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8520" y="20574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Faster than industry (126m vs 192m)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520" y="1143000"/>
            <a:ext cx="262128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02680" y="123444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DETECTION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2680" y="1463040"/>
            <a:ext cx="234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t>9.0%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2680" y="20574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False positive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97480"/>
            <a:ext cx="2621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278892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24/7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971800"/>
            <a:ext cx="234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158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4290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After-hours escalations (59% of total)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1360" y="2697480"/>
            <a:ext cx="2621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98520" y="278892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8520" y="2971800"/>
            <a:ext cx="234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86%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8520" y="34290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Automated escalations (229 of 267)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520" y="2697480"/>
            <a:ext cx="2621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02680" y="278892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OPERATIONAL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2680" y="2971800"/>
            <a:ext cx="234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2,110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02680" y="34290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Alerts triaged, 1,690 client-touch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Value &amp; Performance 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402336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MODELED COST EXPOSURE AVOIDED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3749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t>$7.55M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Breach exposure: $7.34M | Coverage: $163K | Analyst hours: $38K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43000"/>
            <a:ext cx="4023360" cy="13716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234440"/>
            <a:ext cx="3749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OPERATIONAL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63040"/>
            <a:ext cx="3749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4C97"/>
                </a:solidFill>
                <a:latin typeface="Roboto"/>
              </a:defRPr>
            </a:pPr>
            <a:r>
              <a:t>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0574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Incidents closed end-to-end by CS SOC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97480"/>
            <a:ext cx="2621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78892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MTTR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971800"/>
            <a:ext cx="234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126m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290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Mean Time to Respond (P90: 87m)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1360" y="2697480"/>
            <a:ext cx="2621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98520" y="278892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MTTD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8520" y="2971800"/>
            <a:ext cx="234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8520" y="34290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Mean Time to Detect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520" y="2697480"/>
            <a:ext cx="26212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02680" y="2788920"/>
            <a:ext cx="2346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343741"/>
                </a:solidFill>
                <a:latin typeface="Roboto"/>
              </a:defRPr>
            </a:pPr>
            <a:r>
              <a:t>INDUSTRY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2680" y="2971800"/>
            <a:ext cx="234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34%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2680" y="3429000"/>
            <a:ext cx="234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Faster response, 36% faster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Value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Quantifying the business impact: cost avoidance, operational efficiency, and breach prevention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Modeled Cost Exposure Avoided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4C97"/>
                </a:solidFill>
                <a:latin typeface="Roboto"/>
              </a:defRPr>
            </a:pPr>
            <a:r>
              <a:t>~$7.55M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Modeled cost exposure avoided across operations, coverage, and threat containment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662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343741"/>
                </a:solidFill>
                <a:latin typeface="Roboto"/>
              </a:defRPr>
            </a:pPr>
            <a:r>
              <a:t>Illustrative impact only; not redeployable budget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Value Delivered -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37744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t>Security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Roboto"/>
              </a:defRPr>
            </a:pPr>
            <a:r>
              <a:t>452 analyst hours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t>~$38K equivalent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371600"/>
            <a:ext cx="237744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t>24/7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Roboto"/>
              </a:defRPr>
            </a:pPr>
            <a:r>
              <a:t>744 hours of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t>~$163K equivalent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371600"/>
            <a:ext cx="2377440" cy="25603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645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t>Threat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2860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43741"/>
                </a:solidFill>
                <a:latin typeface="Roboto"/>
              </a:defRPr>
            </a:pPr>
            <a:r>
              <a:t>11 intrusions contained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t>~$7.34M breach exposure avoided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343741"/>
                </a:solidFill>
                <a:latin typeface="Roboto"/>
              </a:defRPr>
            </a:pPr>
            <a:r>
              <a:t>Methodology: Cost equivalents based on industry-standard rates for SOC analyst time, 24/7 monitoring infrastructure, and average breach cost per incident.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Security Outcomes This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7680960" cy="3177540"/>
          </a:xfrm>
          <a:prstGeom prst="rect">
            <a:avLst/>
          </a:prstGeom>
          <a:noFill/>
        </p:spPr>
        <p:txBody>
          <a:bodyPr wrap="square" lIns="274320" tIns="182880" rIns="274320" bIns="182880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2,110 Alerts Triaged</a:t>
            </a:r>
          </a:p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1,690 Client-Touch Decisions</a:t>
            </a:r>
          </a:p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420 Closed End-to-End</a:t>
            </a:r>
          </a:p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11 True Threats Contained</a:t>
            </a:r>
          </a:p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34% Faster Than Industry</a:t>
            </a:r>
          </a:p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87-Minute P90 Response</a:t>
            </a:r>
          </a:p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158 After-Hours Escalations</a:t>
            </a:r>
          </a:p>
          <a:p>
            <a:pPr>
              <a:spcAft>
                <a:spcPts val="1200"/>
              </a:spcAft>
              <a:defRPr sz="1400" b="0">
                <a:solidFill>
                  <a:srgbClr val="343741"/>
                </a:solidFill>
                <a:latin typeface="Roboto"/>
              </a:defRPr>
            </a:pPr>
            <a:r>
              <a:t>• 744 Hours of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Protection Achieved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Measurable outcomes that exceed industry standards and reduce your breach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Getting Better Every Period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MTTR (blue) | MTTD (navy) | FP% (red dashed)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7680960" cy="7315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4C97"/>
                </a:solidFill>
                <a:latin typeface="Roboto"/>
              </a:defRPr>
            </a:pPr>
            <a:r>
              <a:t>MTTR decreased 25% to 126 minutes, MTTD improved 22% to 42 minutes</a:t>
            </a:r>
          </a:p>
        </p:txBody>
      </p:sp>
      <p:pic>
        <p:nvPicPr>
          <p:cNvPr id="12" name="Picture 11" descr="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Industry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463040"/>
            <a:ext cx="7315200" cy="57150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Your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Industry Average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08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Roboto"/>
              </a:defRPr>
            </a:pPr>
            <a:r>
              <a:t>Difference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034540"/>
            <a:ext cx="7315200" cy="571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MTTR (minutes)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080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0802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802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34% Better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MTTD (minutes)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6517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66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517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36% Better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177540"/>
            <a:ext cx="7315200" cy="571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Incidents/Day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8.9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223260"/>
            <a:ext cx="164592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11.4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223260"/>
            <a:ext cx="1645920" cy="4800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223260"/>
            <a:ext cx="1645920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Roboto"/>
              </a:defRPr>
            </a:pPr>
            <a:r>
              <a:t>22% Better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Response Efficiency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377440" cy="25603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Containment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CDE"/>
                </a:solidFill>
                <a:latin typeface="Roboto"/>
              </a:defRPr>
            </a:pPr>
            <a: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(262 of 267)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463040"/>
            <a:ext cx="2377440" cy="256032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Playbook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9CDE"/>
                </a:solidFill>
                <a:latin typeface="Roboto"/>
              </a:defRPr>
            </a:pPr>
            <a:r>
              <a:t>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474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(229 incidents)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463040"/>
            <a:ext cx="2377440" cy="256032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7373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4C97"/>
                </a:solidFill>
                <a:latin typeface="Roboto"/>
              </a:defRPr>
            </a:pPr>
            <a:r>
              <a:t>Analyst Escalation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A14"/>
                </a:solidFill>
                <a:latin typeface="Roboto"/>
              </a:defRPr>
            </a:pPr>
            <a:r>
              <a:t>14%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474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(38 incidents)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Detection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True Threat 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3340"/>
                </a:solidFill>
                <a:latin typeface="Roboto"/>
              </a:defRPr>
            </a:pPr>
            <a:r>
              <a:t>31.4%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6304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Signal Fidelity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Roboto"/>
              </a:defRPr>
            </a:pPr>
            <a:r>
              <a:t>91%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False Positive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A14"/>
                </a:solidFill>
                <a:latin typeface="Roboto"/>
              </a:defRPr>
            </a:pPr>
            <a:r>
              <a:t>9.0%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926080"/>
            <a:ext cx="3566160" cy="128016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4340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Client-Validated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5661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CDE"/>
                </a:solidFill>
                <a:latin typeface="Roboto"/>
              </a:defRPr>
            </a:pPr>
            <a:r>
              <a:t>86.9%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8229600" cy="6400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004C97"/>
                </a:solidFill>
                <a:latin typeface="Roboto"/>
              </a:defRPr>
            </a:pPr>
            <a:r>
              <a:t>Signal quality improved: false positives fell from 10.8% to 9.0%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Threat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Understanding the threats we're seeing and how we're adapting to protect your organization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Severity Alignment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343741"/>
                </a:solidFill>
                <a:latin typeface="Roboto"/>
              </a:defRPr>
            </a:pPr>
            <a:r>
              <a:t>Vendor-reported criticality vs. Critical Start adjudication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822960"/>
            <a:ext cx="1645920" cy="36576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267 escalations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3340"/>
                </a:solidFill>
                <a:latin typeface="Roboto"/>
              </a:defRPr>
            </a:pPr>
            <a:r>
              <a:t>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Upgraded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46304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CDE"/>
                </a:solidFill>
                <a:latin typeface="Roboto"/>
              </a:defRPr>
            </a:pPr>
            <a: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De-escalated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463040"/>
            <a:ext cx="237744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168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43741"/>
                </a:solidFill>
                <a:latin typeface="Roboto"/>
              </a:defRPr>
            </a:pPr>
            <a:r>
              <a:t>Aligned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7680960" cy="731520"/>
          </a:xfrm>
          <a:prstGeom prst="rect">
            <a:avLst/>
          </a:prstGeom>
          <a:noFill/>
        </p:spPr>
        <p:txBody>
          <a:bodyPr wrap="square" lIns="182880" rIns="182880">
            <a:spAutoFit/>
          </a:bodyPr>
          <a:lstStyle/>
          <a:p>
            <a:pPr algn="l">
              <a:defRPr sz="1300">
                <a:solidFill>
                  <a:srgbClr val="343741"/>
                </a:solidFill>
                <a:latin typeface="Roboto"/>
              </a:defRPr>
            </a:pPr>
            <a:r>
              <a:t>• 34 escalations upgraded (12.7%) - CS raised severity based on business impact</a:t>
            </a:r>
            <a:br/>
            <a:r>
              <a:t>• 65 escalations de-escalated (24.3%) - CS reduced noise from vendor over-classification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>
                <a:solidFill>
                  <a:srgbClr val="343741"/>
                </a:solidFill>
                <a:latin typeface="Roboto"/>
              </a:defRPr>
            </a:pPr>
            <a:r>
              <a:t>Source: Vendor Severity (col 45) vs. Current Priority (col 13)</a:t>
            </a:r>
          </a:p>
        </p:txBody>
      </p:sp>
      <p:pic>
        <p:nvPicPr>
          <p:cNvPr id="23" name="Picture 22" descr="sanke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83464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Threat Landscape by Tactic &amp; 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High (red) | Medium (orange) | Low (blue) | Info (gray)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37760"/>
            <a:ext cx="7680960" cy="5486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004C97"/>
                </a:solidFill>
                <a:latin typeface="Roboto"/>
              </a:defRPr>
            </a:pPr>
            <a:r>
              <a:t>Persistence tactics generated 77 escalations with 12 high-severity cases (15.6%)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>
                <a:solidFill>
                  <a:srgbClr val="343741"/>
                </a:solidFill>
                <a:latin typeface="Roboto"/>
              </a:defRPr>
            </a:pPr>
            <a:r>
              <a:t>Source: MITRE ATT&amp;CK Tactic (col X) and Current Priority (col 13)</a:t>
            </a:r>
          </a:p>
        </p:txBody>
      </p:sp>
      <p:pic>
        <p:nvPicPr>
          <p:cNvPr id="13" name="Picture 12" descr="stacked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Detection Sources &amp;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Palo Alto Cortex XDR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189 incidents (70.8%)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0400"/>
            <a:ext cx="2103120" cy="9144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Roboto"/>
              </a:defRPr>
            </a:pPr>
            <a:r>
              <a:t>FP Rate: 11.2%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Above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46304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Microsoft Sentinel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52 incidents (19.5%)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3200400"/>
            <a:ext cx="2103120" cy="91440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Roboto"/>
              </a:defRPr>
            </a:pPr>
            <a:r>
              <a:t>FP Rate: 5.8%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Good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463040"/>
            <a:ext cx="237744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0" y="17373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CrowdStrike Falcon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4688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26 incidents (9.7%)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200400"/>
            <a:ext cx="2103120" cy="914400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>
                <a:solidFill>
                  <a:srgbClr val="FFFFFF"/>
                </a:solidFill>
                <a:latin typeface="Roboto"/>
              </a:defRPr>
            </a:pPr>
            <a:r>
              <a:t>FP Rate: 7.7%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Good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Insights &amp; Continuous Improvement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How we're evolving our partnership to advance your security maturity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Prioritized Improvement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00200"/>
            <a:ext cx="914400" cy="3200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002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1 - Detection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Palo Alto Cortex XDR false positive rate is 11.2%, exceeding the 10.0%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Owner: CS SOC + Lennar Security Team | Target: Next 30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Reduce escalations by ~20%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71800"/>
            <a:ext cx="914400" cy="32004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9718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2 - Automation Opportunity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Manual escalations at 14% exceed 12% target. 38 incidents required analyst judgment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Owner: CS SOC Engineering | Target: Next 60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Reduce manual review burden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8229600" cy="1188720"/>
          </a:xfrm>
          <a:prstGeom prst="rect">
            <a:avLst/>
          </a:prstGeom>
          <a:solidFill>
            <a:srgbClr val="F0F8FF"/>
          </a:solidFill>
          <a:ln w="508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4343400"/>
            <a:ext cx="914400" cy="320040"/>
          </a:xfrm>
          <a:prstGeom prst="rect">
            <a:avLst/>
          </a:prstGeom>
          <a:solidFill>
            <a:srgbClr val="EF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3434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Item 3 - Threat 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Persistence + Defense Evasion account for 67% of high-severity incidents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578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43741"/>
                </a:solidFill>
                <a:latin typeface="Roboto"/>
              </a:defRPr>
            </a:pPr>
            <a:r>
              <a:t>Owner: Joint - CS Threat Intel + Lennar | Target: 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4C97"/>
                </a:solidFill>
                <a:latin typeface="Roboto"/>
              </a:defRPr>
            </a:pPr>
            <a:r>
              <a:t>Expected Impact: Improved detection of advanced threats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Operational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After-Hours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After Hours Calls: 18% (136 of 756)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Weekend Calls: 15% (22 of 147)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Total Off-Hours Calls: 158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463040"/>
            <a:ext cx="3749040" cy="29260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1645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4C97"/>
                </a:solidFill>
                <a:latin typeface="Roboto"/>
              </a:defRPr>
            </a:pPr>
            <a:r>
              <a:t>Collaboration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Average Touches per Incident: 2.3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Active Client Participation: 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66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Client-Led Closures: 21%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663440"/>
            <a:ext cx="8229600" cy="64008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1">
                <a:solidFill>
                  <a:srgbClr val="004C97"/>
                </a:solidFill>
                <a:latin typeface="Roboto"/>
              </a:defRPr>
            </a:pPr>
            <a:r>
              <a:t>82.5% of after-hours alerts handled by CS SOC without requiring customer notification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After-Hours Customer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4C97"/>
                </a:solidFill>
                <a:latin typeface="Roboto"/>
              </a:defRPr>
            </a:pPr>
            <a:r>
              <a:t>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343741"/>
                </a:solidFill>
                <a:latin typeface="Roboto"/>
              </a:defRPr>
            </a:pPr>
            <a:r>
              <a:t>After-Hours Escalations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463040"/>
            <a:ext cx="2560320" cy="91440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004C97"/>
                </a:solidFill>
                <a:latin typeface="Roboto"/>
              </a:defRPr>
            </a:pPr>
            <a:r>
              <a:t>129 Weeknights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2560320" cy="914400"/>
          </a:xfrm>
          <a:prstGeom prst="rect">
            <a:avLst/>
          </a:prstGeom>
          <a:solidFill>
            <a:srgbClr val="FFF8F0"/>
          </a:solidFill>
          <a:ln w="254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400" b="1">
                <a:solidFill>
                  <a:srgbClr val="FF6A14"/>
                </a:solidFill>
                <a:latin typeface="Roboto"/>
              </a:defRPr>
            </a:pPr>
            <a:r>
              <a:t>29 Weekends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517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744 hours of nonstop coverage · 86% auto-routed via playbooks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What This Means for Your Organization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Your team received continuous protection outside business hours. 158 incidents were detected and escalated while your team was off-duty, with 86% automatically routed through playbooks—minimizing manual intervention and ensuring no threats went unaddressed.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Response Efficiency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EF3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3340"/>
                </a:solidFill>
                <a:latin typeface="Roboto"/>
              </a:defRPr>
            </a:pPr>
            <a: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67m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A14"/>
                </a:solidFill>
                <a:latin typeface="Roboto"/>
              </a:defRPr>
            </a:pPr>
            <a:r>
              <a:t>Target: 30m 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FF6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A14"/>
                </a:solidFill>
                <a:latin typeface="Roboto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67m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6A14"/>
                </a:solidFill>
                <a:latin typeface="Roboto"/>
              </a:defRPr>
            </a:pPr>
            <a:r>
              <a:t>Target: 60m 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Roboto"/>
              </a:defRPr>
            </a:pPr>
            <a: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126m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9CDE"/>
                </a:solidFill>
                <a:latin typeface="Roboto"/>
              </a:defRPr>
            </a:pPr>
            <a:r>
              <a:t>Target: 180m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463040"/>
            <a:ext cx="1965960" cy="1463040"/>
          </a:xfrm>
          <a:prstGeom prst="rect">
            <a:avLst/>
          </a:prstGeom>
          <a:solidFill>
            <a:srgbClr val="FAFAFA"/>
          </a:solidFill>
          <a:ln w="38100">
            <a:solidFill>
              <a:srgbClr val="34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95160" y="155448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3741"/>
                </a:solidFill>
                <a:latin typeface="Roboto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192024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C97"/>
                </a:solidFill>
                <a:latin typeface="Roboto"/>
              </a:defRPr>
            </a:pPr>
            <a:r>
              <a:t>52m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65176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09CDE"/>
                </a:solidFill>
                <a:latin typeface="Roboto"/>
              </a:defRPr>
            </a:pPr>
            <a:r>
              <a:t>Target: 240m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F0FFF0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Ins="274320" bIns="137160" rtlCol="0" anchor="ctr"/>
          <a:lstStyle/>
          <a:p>
            <a:pPr algn="l">
              <a:defRPr sz="2400" b="1">
                <a:solidFill>
                  <a:srgbClr val="004C97"/>
                </a:solidFill>
                <a:latin typeface="Roboto"/>
              </a:defRPr>
            </a:pPr>
            <a:r>
              <a:t>P90 Response Time: 87 minutes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90% of incidents responded to within 87 minutes—34% faster than industry median (192m)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8229600" cy="73152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t"/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What This Means: Faster response times mean threats are contained before they can spread. Your 34% advantage translates to reduced risk exposure and better business continuity.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Collaboration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621280" cy="182880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43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4C97"/>
                </a:solidFill>
                <a:latin typeface="Roboto"/>
              </a:defRPr>
            </a:pPr>
            <a:r>
              <a:t>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CDE"/>
                </a:solidFill>
                <a:latin typeface="Roboto"/>
              </a:defRPr>
            </a:pPr>
            <a:r>
              <a:t>Average Touches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interactions per incident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1360" y="1463040"/>
            <a:ext cx="2621280" cy="1828800"/>
          </a:xfrm>
          <a:prstGeom prst="rect">
            <a:avLst/>
          </a:prstGeom>
          <a:solidFill>
            <a:srgbClr val="FAFAFA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2800" y="1737360"/>
            <a:ext cx="243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4C97"/>
                </a:solidFill>
                <a:latin typeface="Roboto"/>
              </a:defRPr>
            </a:pPr>
            <a:r>
              <a:t>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265176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4C97"/>
                </a:solidFill>
                <a:latin typeface="Roboto"/>
              </a:defRPr>
            </a:pPr>
            <a:r>
              <a:t>Client Participation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301752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of incidents with client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520" y="1463040"/>
            <a:ext cx="2621280" cy="182880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6960" y="1737360"/>
            <a:ext cx="243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4C97"/>
                </a:solidFill>
                <a:latin typeface="Roboto"/>
              </a:defRPr>
            </a:pPr>
            <a:r>
              <a:t>21%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265176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CDE"/>
                </a:solidFill>
                <a:latin typeface="Roboto"/>
              </a:defRPr>
            </a:pPr>
            <a:r>
              <a:t>Client-Led Closures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6960" y="301752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43741"/>
                </a:solidFill>
                <a:latin typeface="Roboto"/>
              </a:defRPr>
            </a:pPr>
            <a:r>
              <a:t>closed by your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0F8FF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bIns="137160" rtlCol="0" anchor="ctr"/>
          <a:lstStyle/>
          <a:p>
            <a:pPr algn="l">
              <a:defRPr sz="1600" b="1">
                <a:solidFill>
                  <a:srgbClr val="004C97"/>
                </a:solidFill>
                <a:latin typeface="Roboto"/>
              </a:defRPr>
            </a:pPr>
            <a:r>
              <a:t>What This Means for Your Organization</a:t>
            </a:r>
          </a:p>
          <a:p>
            <a:pPr algn="l">
              <a:defRPr sz="1400">
                <a:solidFill>
                  <a:srgbClr val="343741"/>
                </a:solidFill>
                <a:latin typeface="Roboto"/>
              </a:defRPr>
            </a:pPr>
            <a:r>
              <a:t>Effective collaboration means faster threat resolution. With 72% client participation and 21% client-led closures, your team is actively engaged in the security process while Critical Start handles the heavy lifting.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Detection 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2621280" cy="164592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243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4C97"/>
                </a:solidFill>
                <a:latin typeface="Roboto"/>
              </a:defRPr>
            </a:pPr>
            <a:r>
              <a:t>31.4%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Roboto"/>
              </a:defRPr>
            </a:pPr>
            <a:r>
              <a:t>True Threat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of escalations were real threats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1360" y="1463040"/>
            <a:ext cx="2621280" cy="1645920"/>
          </a:xfrm>
          <a:prstGeom prst="rect">
            <a:avLst/>
          </a:prstGeom>
          <a:solidFill>
            <a:srgbClr val="FAFAFA"/>
          </a:solidFill>
          <a:ln w="38100">
            <a:solidFill>
              <a:srgbClr val="004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2800" y="1737360"/>
            <a:ext cx="243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4C97"/>
                </a:solidFill>
                <a:latin typeface="Roboto"/>
              </a:defRPr>
            </a:pPr>
            <a:r>
              <a:t>91%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800" y="246888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4C97"/>
                </a:solidFill>
                <a:latin typeface="Roboto"/>
              </a:defRPr>
            </a:pPr>
            <a:r>
              <a:t>Signal Fidelity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2800" y="283464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noise filtered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520" y="1463040"/>
            <a:ext cx="2621280" cy="1645920"/>
          </a:xfrm>
          <a:prstGeom prst="rect">
            <a:avLst/>
          </a:prstGeom>
          <a:solidFill>
            <a:srgbClr val="FAFAFA"/>
          </a:solidFill>
          <a:ln w="381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6960" y="1737360"/>
            <a:ext cx="243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04C97"/>
                </a:solidFill>
                <a:latin typeface="Roboto"/>
              </a:defRPr>
            </a:pPr>
            <a:r>
              <a:t>86.9%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0" y="246888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Roboto"/>
              </a:defRPr>
            </a:pPr>
            <a:r>
              <a:t>Client 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6960" y="2834640"/>
            <a:ext cx="243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43741"/>
                </a:solidFill>
                <a:latin typeface="Roboto"/>
              </a:defRPr>
            </a:pPr>
            <a:r>
              <a:t>confirmed by your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0FFF0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Ins="274320" rtlCol="0" anchor="t"/>
          <a:lstStyle/>
          <a:p>
            <a:pPr algn="ctr">
              <a:defRPr sz="2000" b="1">
                <a:solidFill>
                  <a:srgbClr val="004C97"/>
                </a:solidFill>
                <a:latin typeface="Roboto"/>
              </a:defRPr>
            </a:pPr>
            <a:r>
              <a:t>False Positive Rate: 9.0% ✓ Within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Ins="182880" rtlCol="0" anchor="t"/>
          <a:lstStyle/>
          <a:p>
            <a:pPr algn="l">
              <a:defRPr sz="1400" b="1">
                <a:solidFill>
                  <a:srgbClr val="004C97"/>
                </a:solidFill>
                <a:latin typeface="Roboto"/>
              </a:defRPr>
            </a:pPr>
            <a:r>
              <a:t>What This Means: High detection quality means less noise for your team. With 91% signal fidelity, Critical Start filters out the false alarms so your analysts focus only on real threats.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Security Outcomes This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t>2,110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Alerts Triaged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1,690 guided · 420 closed end-to-end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00600" y="164592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7744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Threats Contained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974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100% contained · zero breaches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29184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t>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0233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Faster Than Peers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4340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126m MTTR vs 192m industry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3291840"/>
            <a:ext cx="3749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4C97"/>
                </a:solidFill>
                <a:latin typeface="Roboto"/>
              </a:defRPr>
            </a:pPr>
            <a:r>
              <a:t>$7.55M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0233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Roboto"/>
              </a:defRPr>
            </a:pPr>
            <a:r>
              <a:t>Cost Exposure Avoided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34340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343741"/>
                </a:solidFill>
                <a:latin typeface="Roboto"/>
              </a:defRPr>
            </a:pPr>
            <a:r>
              <a:t>Modeled operational + breach avoidance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Key Takeaways: This 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34% faster response than industry peers—threats are contained before spreading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100% threat containment with zero breaches this period across 11 true positive incidents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6616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$7.55M in modeled cost exposure avoided through proactive security operations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8229600" cy="822960"/>
          </a:xfrm>
          <a:prstGeom prst="rect">
            <a:avLst/>
          </a:prstGeom>
          <a:solidFill>
            <a:srgbClr val="F0F8FF"/>
          </a:solidFill>
          <a:ln w="25400">
            <a:solidFill>
              <a:srgbClr val="009C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5720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CDE"/>
                </a:solidFill>
                <a:latin typeface="Roboto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26280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4C97"/>
                </a:solidFill>
                <a:latin typeface="Roboto"/>
              </a:defRPr>
            </a:pPr>
            <a:r>
              <a:t>158 after-hours escalations handled seamlessly with 86% automation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Roboto"/>
              </a:defRPr>
            </a:pPr>
            <a:r>
              <a:t>Forward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Roboto"/>
              </a:defRPr>
            </a:pPr>
            <a:r>
              <a:t>Strategic recommendations to strengthen your security posture and maximize partnership value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ESCALATION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CRITICAL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343741"/>
                </a:solidFill>
                <a:latin typeface="Roboto"/>
              </a:defRPr>
            </a:pPr>
            <a:r>
              <a:t>DECEMBER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343741"/>
                </a:solidFill>
                <a:latin typeface="Roboto"/>
              </a:defRPr>
            </a:pPr>
            <a:r>
              <a:t>©2025 CRITICAL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7320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343741"/>
                </a:solidFill>
                <a:latin typeface="Roboto"/>
              </a:defRPr>
            </a:pPr>
            <a:r>
              <a:t>EBR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4C97"/>
                </a:solidFill>
                <a:latin typeface="Roboto"/>
              </a:defRPr>
            </a:pPr>
            <a:r>
              <a:t>Looking 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Next Period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7955280" cy="640080"/>
          </a:xfrm>
          <a:prstGeom prst="rect">
            <a:avLst/>
          </a:prstGeom>
          <a:noFill/>
        </p:spPr>
        <p:txBody>
          <a:bodyPr wrap="square" lIns="182880" tIns="91440" rIns="18288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Trim Palo Alto XDR false positives from 11.2% to 10% threshold (~4 fewer escalations)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Reduce manual escalations from 38 (14%) to 32 or fewer (12%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Strategic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7955280" cy="457200"/>
          </a:xfrm>
          <a:prstGeom prst="rect">
            <a:avLst/>
          </a:prstGeom>
          <a:noFill/>
        </p:spPr>
        <p:txBody>
          <a:bodyPr wrap="square" lIns="182880" tIns="91440" rIns="182880" bIns="9144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Proactive hunts targeting Persistence and Defense Evasion tactics</a:t>
            </a:r>
          </a:p>
          <a:p>
            <a:pPr>
              <a:spcAft>
                <a:spcPts val="800"/>
              </a:spcAft>
              <a:defRPr sz="1400">
                <a:solidFill>
                  <a:srgbClr val="009CDE"/>
                </a:solidFill>
                <a:latin typeface="Roboto"/>
              </a:defRPr>
            </a:pPr>
            <a:r>
              <a:t>✓ Additional playbook coverage for analyst-escalated scenarios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C97"/>
                </a:solidFill>
                <a:latin typeface="Roboto"/>
              </a:defRPr>
            </a:pPr>
            <a:r>
              <a:t>Your Partnership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43741"/>
                </a:solidFill>
                <a:latin typeface="Roboto"/>
              </a:defRPr>
            </a:pPr>
            <a:r>
              <a:t>Questions? Your Customer Success Manager is here to help.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>
                <a:solidFill>
                  <a:srgbClr val="343741"/>
                </a:solidFill>
                <a:latin typeface="Roboto"/>
              </a:defRPr>
            </a:pPr>
            <a:r>
              <a:t>Report generated: November 5, 2025 | Data sources: Escalation Details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1633</Words>
  <Application>Microsoft Macintosh PowerPoint</Application>
  <PresentationFormat>On-screen Show (16:9)</PresentationFormat>
  <Paragraphs>415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Kyle Spears</cp:lastModifiedBy>
  <cp:revision>2</cp:revision>
  <dcterms:created xsi:type="dcterms:W3CDTF">2013-01-27T09:14:16Z</dcterms:created>
  <dcterms:modified xsi:type="dcterms:W3CDTF">2025-12-23T14:00:58Z</dcterms:modified>
  <cp:category/>
</cp:coreProperties>
</file>