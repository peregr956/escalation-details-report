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9CDE"/>
              </a:gs>
              <a:gs pos="100000">
                <a:srgbClr val="004C97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Roboto"/>
              </a:defRPr>
            </a:pPr>
            <a:r>
              <a:t>ESCALATION TO CLIENT</a:t>
            </a:r>
            <a:br/>
            <a:r>
              <a:t>DETAILS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Roboto"/>
              </a:defRPr>
            </a:pPr>
            <a:r>
              <a:t>Signature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Roboto"/>
              </a:defRPr>
            </a:pPr>
            <a:r>
              <a:t>Lennar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Roboto"/>
              </a:defRPr>
            </a:pPr>
            <a:r>
              <a:t>August 1-31, 2025 (31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05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Roboto"/>
              </a:defRPr>
            </a:pPr>
            <a:r>
              <a:t>Report Date: November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A comprehensive view of your security posture and the value delivered this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Executive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621280" cy="12801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70432"/>
            <a:ext cx="2401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THREATS CONTAINED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24018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004C97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240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100% contained, zero breaches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360" y="1097280"/>
            <a:ext cx="2621280" cy="12801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1088" y="1170432"/>
            <a:ext cx="2401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RESPONSE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1088" y="1353312"/>
            <a:ext cx="24018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004C97"/>
                </a:solidFill>
                <a:latin typeface="Roboto"/>
              </a:defRPr>
            </a:pPr>
            <a:r>
              <a:t>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1088" y="1965960"/>
            <a:ext cx="240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Faster than industry (126m vs 192m)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520" y="1097280"/>
            <a:ext cx="2621280" cy="12801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5248" y="1170432"/>
            <a:ext cx="2401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CLOSED E2E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5248" y="1353312"/>
            <a:ext cx="24018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004C97"/>
                </a:solidFill>
                <a:latin typeface="Roboto"/>
              </a:defRPr>
            </a:pPr>
            <a:r>
              <a:t>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5248" y="1965960"/>
            <a:ext cx="240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Incidents resolved without client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2621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587752"/>
            <a:ext cx="2401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ALERTS TRIAGED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770632"/>
            <a:ext cx="24018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004C97"/>
                </a:solidFill>
                <a:latin typeface="Roboto"/>
              </a:defRPr>
            </a:pPr>
            <a:r>
              <a:t>2,110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383280"/>
            <a:ext cx="240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1,690 guided decisions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1360" y="2514600"/>
            <a:ext cx="2621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1088" y="2587752"/>
            <a:ext cx="2401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AFTER-HOURS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1088" y="2770632"/>
            <a:ext cx="24018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004C97"/>
                </a:solidFill>
                <a:latin typeface="Roboto"/>
              </a:defRPr>
            </a:pPr>
            <a:r>
              <a:t>158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088" y="3383280"/>
            <a:ext cx="240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59% of escalations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520" y="2514600"/>
            <a:ext cx="2621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5248" y="2587752"/>
            <a:ext cx="2401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FALSE POSITIVE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5248" y="2770632"/>
            <a:ext cx="24018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004C97"/>
                </a:solidFill>
                <a:latin typeface="Roboto"/>
              </a:defRPr>
            </a:pPr>
            <a:r>
              <a:t>9.0%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5248" y="3383280"/>
            <a:ext cx="240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86% auto-routed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Your Security Posture at a Glance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Every metric meeting or exceeding targets—your organization is well-protected.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Value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Quantifying the business impact: cost avoidance, operational efficiency, and breach prevention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Value Delivered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20040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4C97"/>
                </a:solidFill>
                <a:latin typeface="Roboto"/>
              </a:defRPr>
            </a:pPr>
            <a:r>
              <a:t>~$7.5M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Cost Exposure Avoided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Modeled operational, coverage, and breach avoidance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143000"/>
            <a:ext cx="48463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125272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3741"/>
                </a:solidFill>
                <a:latin typeface="Roboto"/>
              </a:defRPr>
            </a:pPr>
            <a:r>
              <a:t>Security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1554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452 analyst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2801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004C97"/>
                </a:solidFill>
                <a:latin typeface="Roboto"/>
              </a:defRPr>
            </a:pPr>
            <a:r>
              <a:t>~$38K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011680"/>
            <a:ext cx="48463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21214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3741"/>
                </a:solidFill>
                <a:latin typeface="Roboto"/>
              </a:defRPr>
            </a:pPr>
            <a:r>
              <a:t>24/7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423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744 hours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4884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004C97"/>
                </a:solidFill>
                <a:latin typeface="Roboto"/>
              </a:defRPr>
            </a:pPr>
            <a:r>
              <a:t>~$163K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880360"/>
            <a:ext cx="48463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299008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43741"/>
                </a:solidFill>
                <a:latin typeface="Roboto"/>
              </a:defRPr>
            </a:pPr>
            <a:r>
              <a:t>Threat Prevention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32918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11 threats contained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1752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004C97"/>
                </a:solidFill>
                <a:latin typeface="Roboto"/>
              </a:defRPr>
            </a:pPr>
            <a:r>
              <a:t>~$7.3M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343741"/>
                </a:solidFill>
                <a:latin typeface="Roboto"/>
              </a:defRPr>
            </a:pPr>
            <a:r>
              <a:t>Illustrative impact only; not redeployable budget. Based on industry-standard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Security Operations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377440" cy="1828800"/>
          </a:xfrm>
          <a:prstGeom prst="rect">
            <a:avLst/>
          </a:prstGeom>
          <a:solidFill>
            <a:srgbClr val="FAFAFF"/>
          </a:solidFill>
          <a:ln w="381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2377440" cy="36576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Roboto"/>
              </a:defRPr>
            </a:pPr>
            <a: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2,110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Alerts 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1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158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21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After-Hours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27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744h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48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Coverage</a:t>
            </a:r>
          </a:p>
        </p:txBody>
      </p:sp>
      <p:sp>
        <p:nvSpPr>
          <p:cNvPr id="18" name="Chevron 17"/>
          <p:cNvSpPr/>
          <p:nvPr/>
        </p:nvSpPr>
        <p:spPr>
          <a:xfrm>
            <a:off x="2926080" y="2148840"/>
            <a:ext cx="365760" cy="274320"/>
          </a:xfrm>
          <a:prstGeom prst="chevron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371600"/>
            <a:ext cx="2377440" cy="1828800"/>
          </a:xfrm>
          <a:prstGeom prst="rect">
            <a:avLst/>
          </a:prstGeom>
          <a:solidFill>
            <a:srgbClr val="FAFA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Roboto"/>
              </a:defRPr>
            </a:pPr>
            <a:r>
              <a:t>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267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194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Escalated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301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1,690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621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Client-Touch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727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048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Closed E2E</a:t>
            </a:r>
          </a:p>
        </p:txBody>
      </p:sp>
      <p:sp>
        <p:nvSpPr>
          <p:cNvPr id="28" name="Chevron 27"/>
          <p:cNvSpPr/>
          <p:nvPr/>
        </p:nvSpPr>
        <p:spPr>
          <a:xfrm>
            <a:off x="5852160" y="2148840"/>
            <a:ext cx="365760" cy="274320"/>
          </a:xfrm>
          <a:prstGeom prst="chevron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371600"/>
            <a:ext cx="2377440" cy="1828800"/>
          </a:xfrm>
          <a:prstGeom prst="rect">
            <a:avLst/>
          </a:prstGeom>
          <a:solidFill>
            <a:srgbClr val="FAFAFF"/>
          </a:solidFill>
          <a:ln w="381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371600"/>
            <a:ext cx="2377440" cy="3657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371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Roboto"/>
              </a:defRPr>
            </a:pPr>
            <a:r>
              <a:t>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8745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Threats Contained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301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621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Containment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7279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4C97"/>
                </a:solidFill>
                <a:latin typeface="Roboto"/>
              </a:defRPr>
            </a:pPr>
            <a:r>
              <a:t>126m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048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Avg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The Pipeline in Action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From raw alerts to zero breaches—every threat contained, every risk mitigated.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Protection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Measurable outcomes that exceed industry standards and reduce your breach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Getting Better Every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MTTR (blue) | MTTD (navy) | FP% (red dashed)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7680960" cy="7315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t>MTTR decreased 25% to 126 minutes, MTTD improved 22% to 42 minutes</a:t>
            </a:r>
          </a:p>
        </p:txBody>
      </p:sp>
      <p:pic>
        <p:nvPicPr>
          <p:cNvPr id="12" name="Picture 11" descr="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Industry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7315200" cy="57150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Your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Industry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34540"/>
            <a:ext cx="7315200" cy="571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MTTR (minutes)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0802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802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34% 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MTTD (minutes)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66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517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36% Better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177540"/>
            <a:ext cx="7315200" cy="571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Incidents/Day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8.9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11.4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2232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2232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22% Better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Outperforming Industry Benchmarks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Faster response, better detection, and lower risk—exceeding standards across all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Response &amp; Detection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402336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Containment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019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262 of 267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009CDE"/>
                </a:solidFill>
                <a:latin typeface="Roboto"/>
              </a:defRPr>
            </a:pPr>
            <a:r>
              <a:t>98%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402336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Playbook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163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229 incidents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146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009CDE"/>
                </a:solidFill>
                <a:latin typeface="Roboto"/>
              </a:defRPr>
            </a:pPr>
            <a:r>
              <a:t>86%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402336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290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Analyst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3075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38 incidents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2900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6A14"/>
                </a:solidFill>
                <a:latin typeface="Roboto"/>
              </a:defRPr>
            </a:pPr>
            <a:r>
              <a:t>14%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463040"/>
            <a:ext cx="1965960" cy="1234440"/>
          </a:xfrm>
          <a:prstGeom prst="rect">
            <a:avLst/>
          </a:prstGeom>
          <a:solidFill>
            <a:srgbClr val="F8FAFC"/>
          </a:solidFill>
          <a:ln w="254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57276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True Threat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92024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EF3340"/>
                </a:solidFill>
                <a:latin typeface="Roboto"/>
              </a:defRPr>
            </a:pPr>
            <a:r>
              <a:t>31.4%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463040"/>
            <a:ext cx="1965960" cy="1234440"/>
          </a:xfrm>
          <a:prstGeom prst="rect">
            <a:avLst/>
          </a:prstGeom>
          <a:solidFill>
            <a:srgbClr val="F8FAFC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157276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Signal Fidelity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024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Roboto"/>
              </a:defRPr>
            </a:pPr>
            <a:r>
              <a:t>91%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788920"/>
            <a:ext cx="1965960" cy="1234440"/>
          </a:xfrm>
          <a:prstGeom prst="rect">
            <a:avLst/>
          </a:prstGeom>
          <a:solidFill>
            <a:srgbClr val="F8FAFC"/>
          </a:solidFill>
          <a:ln w="254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8986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False Positive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2461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6A14"/>
                </a:solidFill>
                <a:latin typeface="Roboto"/>
              </a:defRPr>
            </a:pPr>
            <a:r>
              <a:t>9.0%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2788920"/>
            <a:ext cx="1965960" cy="1234440"/>
          </a:xfrm>
          <a:prstGeom prst="rect">
            <a:avLst/>
          </a:prstGeom>
          <a:solidFill>
            <a:srgbClr val="F8FAFC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2898648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Client-Validated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246120"/>
            <a:ext cx="1783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Roboto"/>
              </a:defRPr>
            </a:pPr>
            <a:r>
              <a:t>86.9%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4C97"/>
                </a:solidFill>
                <a:latin typeface="Roboto"/>
              </a:defRPr>
            </a:pPr>
            <a:r>
              <a:t>Signal quality improved: FP rate at 9.0% with 98% containment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Threat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Understanding the threats we're seeing and how we're adapting to protect your organization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Severity Alignment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Vendor-reported criticality vs. Critical Start adjudication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1645920" cy="3657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267 escalations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3340"/>
                </a:solidFill>
                <a:latin typeface="Roboto"/>
              </a:defRPr>
            </a:pPr>
            <a: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Upgraded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46304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CDE"/>
                </a:solidFill>
                <a:latin typeface="Roboto"/>
              </a:defRPr>
            </a:pPr>
            <a: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De-escalated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168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Aligned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7680960" cy="73152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• 34 escalations upgraded (12.7%) - CS raised severity based on business impact</a:t>
            </a:r>
            <a:br/>
            <a:r>
              <a:t>• 65 escalations de-escalated (24.3%) - CS reduced noise from vendor over-classification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343741"/>
                </a:solidFill>
                <a:latin typeface="Roboto"/>
              </a:defRPr>
            </a:pPr>
            <a:r>
              <a:t>Source: Vendor Severity (col 45) vs. Current Priority (col 13)</a:t>
            </a:r>
          </a:p>
        </p:txBody>
      </p:sp>
      <p:pic>
        <p:nvPicPr>
          <p:cNvPr id="23" name="Picture 22" descr="sanke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83464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Threat &amp; Detection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43741"/>
                </a:solidFill>
                <a:latin typeface="Roboto"/>
              </a:defRPr>
            </a:pPr>
            <a:r>
              <a:t>High | Medium | Low |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4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4C97"/>
                </a:solidFill>
                <a:latin typeface="Roboto"/>
              </a:defRPr>
            </a:pPr>
            <a:r>
              <a:t>Persistence: 77 escalations, 12 high-severity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57276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4C97"/>
                </a:solidFill>
                <a:latin typeface="Roboto"/>
              </a:defRPr>
            </a:pPr>
            <a:r>
              <a:t>Palo Alto Cortex XDR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20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189 incidents (70.8%)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6916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6A14"/>
                </a:solidFill>
                <a:latin typeface="Roboto"/>
              </a:defRPr>
            </a:pPr>
            <a:r>
              <a:t>FP: 11.2%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468880"/>
            <a:ext cx="40233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786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4C97"/>
                </a:solidFill>
                <a:latin typeface="Roboto"/>
              </a:defRPr>
            </a:pPr>
            <a:r>
              <a:t>Microsoft Sentinel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926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52 incidents (19.5%)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6974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9CDE"/>
                </a:solidFill>
                <a:latin typeface="Roboto"/>
              </a:defRPr>
            </a:pPr>
            <a:r>
              <a:t>FP: 5.8%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474720"/>
            <a:ext cx="40233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58444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4C97"/>
                </a:solidFill>
                <a:latin typeface="Roboto"/>
              </a:defRPr>
            </a:pPr>
            <a:r>
              <a:t>CrowdStrike Falcon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39319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26 incidents (9.7%)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703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9CDE"/>
                </a:solidFill>
                <a:latin typeface="Roboto"/>
              </a:defRPr>
            </a:pPr>
            <a:r>
              <a:t>FP: 7.7%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004C97"/>
                </a:solidFill>
                <a:latin typeface="Roboto"/>
              </a:defRPr>
            </a:pPr>
            <a:r>
              <a:t>Tuning opportunity: Palo Alto Cortex XDR at 11.2% FP rate</a:t>
            </a:r>
          </a:p>
        </p:txBody>
      </p:sp>
      <p:pic>
        <p:nvPicPr>
          <p:cNvPr id="25" name="Picture 24" descr="stacked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40233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Insights &amp; Continuous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How we're evolving our partnership to advance your security maturity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Prioritized Improvement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91440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002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1 - Detection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Palo Alto Cortex XDR false positive rate is 11.2%, exceeding the 10.0%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Owner: CS SOC + Lennar Security Team | Target: Next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Reduce escalations by ~20%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914400" cy="32004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9718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2 - Automation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Manual escalations at 14% exceed 12% target. 38 incidents required analyst judgment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Owner: CS SOC Engineering | Target: Next 60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Reduce manual review burden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822960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343400"/>
            <a:ext cx="91440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434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3 - Threat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Persistence + Defense Evasion account for 67% of high-severity incidents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Owner: Joint - CS Threat Intel + Lennar | Target: 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Improved detection of advanced threats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86400"/>
            <a:ext cx="8229600" cy="6400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Focus Areas for Continuous Improvement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Three targeted actions to reduce noise, improve detection, and strengthen your security posture.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Operational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4023360" cy="2743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400" b="1">
                <a:solidFill>
                  <a:srgbClr val="004C97"/>
                </a:solidFill>
                <a:latin typeface="Roboto"/>
              </a:defRPr>
            </a:pPr>
            <a:r>
              <a:t>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After-Hours Escalations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129 weeknights · 29 weekends</a:t>
            </a:r>
          </a:p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744 hours coverage · 86% auto-routed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63040"/>
            <a:ext cx="4023360" cy="2743200"/>
          </a:xfrm>
          <a:prstGeom prst="rect">
            <a:avLst/>
          </a:prstGeom>
          <a:solidFill>
            <a:srgbClr val="F8FAFC"/>
          </a:solidFill>
          <a:ln w="254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Collaboration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4C97"/>
                </a:solidFill>
                <a:latin typeface="Roboto"/>
              </a:defRPr>
            </a:pPr>
            <a:r>
              <a:t>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574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Average Touches</a:t>
            </a:r>
          </a:p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per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43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4C97"/>
                </a:solidFill>
                <a:latin typeface="Roboto"/>
              </a:defRPr>
            </a:pPr>
            <a: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Client Participation</a:t>
            </a:r>
          </a:p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with client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4C97"/>
                </a:solidFill>
                <a:latin typeface="Roboto"/>
              </a:defRPr>
            </a:pPr>
            <a:r>
              <a:t>21%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20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343741"/>
                </a:solidFill>
                <a:latin typeface="Roboto"/>
              </a:defRPr>
            </a:pPr>
            <a:r>
              <a:t>Client-Led Closures</a:t>
            </a:r>
          </a:p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closed by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004C97"/>
                </a:solidFill>
                <a:latin typeface="Roboto"/>
              </a:defRPr>
            </a:pPr>
            <a:r>
              <a:t>Continuous protection: 158 off-hours incidents handled with 72% client engagement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Forward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Strategic recommendations to strengthen your security posture and maximize partnership value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Key Takeaways: This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34% faster response than industry peers—threats are contained before spreading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100% threat containment with zero breaches this period across 11 true positive incidents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6616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Millions in modeled cost exposure avoided through proactive security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72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158 after-hours escalations handled seamlessly with 86%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60"/>
            <a:ext cx="8229600" cy="6400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Bottom Line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Faster response, complete containment, measurable value—your security investment is delivering.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Looking 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Next Period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7955280" cy="640080"/>
          </a:xfrm>
          <a:prstGeom prst="rect">
            <a:avLst/>
          </a:prstGeom>
          <a:noFill/>
        </p:spPr>
        <p:txBody>
          <a:bodyPr wrap="square" lIns="182880" rIns="182880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Trim Palo Alto XDR false positives from 11.2% to 10% threshold (~4 fewer escalations)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Reduce manual escalations from 38 (14%) to 32 or fewer (12%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Strategic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7955280" cy="457200"/>
          </a:xfrm>
          <a:prstGeom prst="rect">
            <a:avLst/>
          </a:prstGeom>
          <a:noFill/>
        </p:spPr>
        <p:txBody>
          <a:bodyPr wrap="square" lIns="182880" rIns="182880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Proactive hunts targeting Persistence and Defense Evasion tactics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Additional playbook coverage for analyst-escalated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Your Partnership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Roboto"/>
              </a:defRPr>
            </a:pPr>
            <a:r>
              <a:t>Questions? Your Customer Success Manager is here to help.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8229600" cy="6400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137160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Strategic Path Forward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Targeted recommendations to strengthen your security posture and maximize partnership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343741"/>
                </a:solidFill>
                <a:latin typeface="Roboto"/>
              </a:defRPr>
            </a:pPr>
            <a:r>
              <a:t>Report generated: November 5, 2025 | Data sources: Escalation Details Report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4C97"/>
                </a:solidFill>
                <a:latin typeface="Roboto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3741"/>
                </a:solidFill>
                <a:latin typeface="Roboto"/>
              </a:defRPr>
            </a:pPr>
            <a:r>
              <a:t>Questions? We're here to help.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108960"/>
            <a:ext cx="54864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33832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Your Customer Success Manager</a:t>
            </a:r>
          </a:p>
          <a:p>
            <a:pPr algn="ctr">
              <a:defRPr sz="1600">
                <a:solidFill>
                  <a:srgbClr val="009CDE"/>
                </a:solidFill>
                <a:latin typeface="Roboto"/>
              </a:defRPr>
            </a:pPr>
            <a:r>
              <a:t>support@criticalstart.com</a:t>
            </a:r>
          </a:p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www.criticalstart.com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034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43741"/>
                </a:solidFill>
                <a:latin typeface="Roboto"/>
              </a:defRPr>
            </a:pPr>
            <a:r>
              <a:t>Report Date: November 5,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